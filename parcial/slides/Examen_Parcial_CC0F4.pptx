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 denso</c:v>
                </c:pt>
              </c:strCache>
            </c:strRef>
          </c:tx>
          <c:spPr>
            <a:solidFill>
              <a:srgbClr val="B8C2E6"/>
            </a:solidFill>
            <a:effectLst/>
          </c:spPr>
          <c:invertIfNegative val="0"/>
          <c:dLbls>
            <c:numFmt formatCode="0.00" sourceLinked="0"/>
            <c:txPr>
              <a:bodyPr/>
              <a:lstStyle/>
              <a:p>
                <a:pPr>
                  <a:defRPr b="0" i="0" strike="noStrike" sz="800" u="none">
                    <a:solidFill>
                      <a:srgbClr val="5B6275"/>
                    </a:solidFill>
                    <a:latin typeface="+mn-lt"/>
                  </a:defRPr>
                </a:pPr>
              </a:p>
            </c:txPr>
            <c:showLegendKey val="0"/>
            <c:showVal val="1"/>
            <c:showCatName val="0"/>
            <c:showSerName val="0"/>
            <c:showPercent val="0"/>
            <c:showBubbleSize val="0"/>
            <c:showLeaderLines val="0"/>
          </c:dLbls>
          <c:cat>
            <c:multiLvlStrRef>
              <c:f>Sheet1!$A$2:$A$5</c:f>
              <c:multiLvlStrCache>
                <c:ptCount val="4"/>
                <c:lvl>
                  <c:pt idx="0">
                    <c:v>Recall@1</c:v>
                  </c:pt>
                  <c:pt idx="1">
                    <c:v>Recall@3</c:v>
                  </c:pt>
                  <c:pt idx="2">
                    <c:v>MRR</c:v>
                  </c:pt>
                  <c:pt idx="3">
                    <c:v>nDCG@5</c:v>
                  </c:pt>
                </c:lvl>
              </c:multiLvlStrCache>
            </c:multiLvlStrRef>
          </c:cat>
          <c:val>
            <c:numRef>
              <c:f>Sheet1!$B$2:$B$5</c:f>
              <c:numCache>
                <c:formatCode>General</c:formatCode>
                <c:ptCount val="4"/>
                <c:pt idx="0">
                  <c:v>0.442</c:v>
                </c:pt>
                <c:pt idx="1">
                  <c:v>0.658</c:v>
                </c:pt>
                <c:pt idx="2">
                  <c:v>0.688</c:v>
                </c:pt>
                <c:pt idx="3">
                  <c:v>0.642</c:v>
                </c:pt>
              </c:numCache>
            </c:numRef>
          </c:val>
        </c:ser>
        <c:ser>
          <c:idx val="1"/>
          <c:order val="1"/>
          <c:tx>
            <c:strRef>
              <c:f>Sheet1!$C$1</c:f>
              <c:strCache>
                <c:ptCount val="1"/>
                <c:pt idx="0">
                  <c:v>B + BM25 + RRF</c:v>
                </c:pt>
              </c:strCache>
            </c:strRef>
          </c:tx>
          <c:spPr>
            <a:solidFill>
              <a:srgbClr val="5A6DB8"/>
            </a:solidFill>
            <a:effectLst/>
          </c:spPr>
          <c:invertIfNegative val="0"/>
          <c:dLbls>
            <c:numFmt formatCode="0.00" sourceLinked="0"/>
            <c:txPr>
              <a:bodyPr/>
              <a:lstStyle/>
              <a:p>
                <a:pPr>
                  <a:defRPr b="0" i="0" strike="noStrike" sz="800" u="none">
                    <a:solidFill>
                      <a:srgbClr val="5B6275"/>
                    </a:solidFill>
                    <a:latin typeface="+mn-lt"/>
                  </a:defRPr>
                </a:pPr>
              </a:p>
            </c:txPr>
            <c:showLegendKey val="0"/>
            <c:showVal val="1"/>
            <c:showCatName val="0"/>
            <c:showSerName val="0"/>
            <c:showPercent val="0"/>
            <c:showBubbleSize val="0"/>
            <c:showLeaderLines val="0"/>
          </c:dLbls>
          <c:cat>
            <c:multiLvlStrRef>
              <c:f>Sheet1!$A$2:$A$5</c:f>
              <c:multiLvlStrCache>
                <c:ptCount val="4"/>
                <c:lvl>
                  <c:pt idx="0">
                    <c:v>Recall@1</c:v>
                  </c:pt>
                  <c:pt idx="1">
                    <c:v>Recall@3</c:v>
                  </c:pt>
                  <c:pt idx="2">
                    <c:v>MRR</c:v>
                  </c:pt>
                  <c:pt idx="3">
                    <c:v>nDCG@5</c:v>
                  </c:pt>
                </c:lvl>
              </c:multiLvlStrCache>
            </c:multiLvlStrRef>
          </c:cat>
          <c:val>
            <c:numRef>
              <c:f>Sheet1!$C$2:$C$5</c:f>
              <c:numCache>
                <c:formatCode>General</c:formatCode>
                <c:ptCount val="4"/>
                <c:pt idx="0">
                  <c:v>0.392</c:v>
                </c:pt>
                <c:pt idx="1">
                  <c:v>0.558</c:v>
                </c:pt>
                <c:pt idx="2">
                  <c:v>0.629</c:v>
                </c:pt>
                <c:pt idx="3">
                  <c:v>0.582</c:v>
                </c:pt>
              </c:numCache>
            </c:numRef>
          </c:val>
        </c:ser>
        <c:ser>
          <c:idx val="2"/>
          <c:order val="2"/>
          <c:tx>
            <c:strRef>
              <c:f>Sheet1!$D$1</c:f>
              <c:strCache>
                <c:ptCount val="1"/>
                <c:pt idx="0">
                  <c:v>C + Cross-Encoder</c:v>
                </c:pt>
              </c:strCache>
            </c:strRef>
          </c:tx>
          <c:spPr>
            <a:solidFill>
              <a:srgbClr val="1F2A5C"/>
            </a:solidFill>
            <a:effectLst/>
          </c:spPr>
          <c:invertIfNegative val="0"/>
          <c:dLbls>
            <c:numFmt formatCode="0.00" sourceLinked="0"/>
            <c:txPr>
              <a:bodyPr/>
              <a:lstStyle/>
              <a:p>
                <a:pPr>
                  <a:defRPr b="0" i="0" strike="noStrike" sz="800" u="none">
                    <a:solidFill>
                      <a:srgbClr val="5B6275"/>
                    </a:solidFill>
                    <a:latin typeface="+mn-lt"/>
                  </a:defRPr>
                </a:pPr>
              </a:p>
            </c:txPr>
            <c:showLegendKey val="0"/>
            <c:showVal val="1"/>
            <c:showCatName val="0"/>
            <c:showSerName val="0"/>
            <c:showPercent val="0"/>
            <c:showBubbleSize val="0"/>
            <c:showLeaderLines val="0"/>
          </c:dLbls>
          <c:cat>
            <c:multiLvlStrRef>
              <c:f>Sheet1!$A$2:$A$5</c:f>
              <c:multiLvlStrCache>
                <c:ptCount val="4"/>
                <c:lvl>
                  <c:pt idx="0">
                    <c:v>Recall@1</c:v>
                  </c:pt>
                  <c:pt idx="1">
                    <c:v>Recall@3</c:v>
                  </c:pt>
                  <c:pt idx="2">
                    <c:v>MRR</c:v>
                  </c:pt>
                  <c:pt idx="3">
                    <c:v>nDCG@5</c:v>
                  </c:pt>
                </c:lvl>
              </c:multiLvlStrCache>
            </c:multiLvlStrRef>
          </c:cat>
          <c:val>
            <c:numRef>
              <c:f>Sheet1!$D$2:$D$5</c:f>
              <c:numCache>
                <c:formatCode>General</c:formatCode>
                <c:ptCount val="4"/>
                <c:pt idx="0">
                  <c:v>0.542</c:v>
                </c:pt>
                <c:pt idx="1">
                  <c:v>0.633</c:v>
                </c:pt>
                <c:pt idx="2">
                  <c:v>0.75</c:v>
                </c:pt>
                <c:pt idx="3">
                  <c:v>0.666</c:v>
                </c:pt>
              </c:numCache>
            </c:numRef>
          </c:val>
        </c:ser>
        <c:dLbls>
          <c:numFmt formatCode="0.00" sourceLinked="0"/>
          <c:txPr>
            <a:bodyPr/>
            <a:lstStyle/>
            <a:p>
              <a:pPr>
                <a:defRPr b="0" i="0" strike="noStrike" sz="800" u="none">
                  <a:solidFill>
                    <a:srgbClr val="5B6275"/>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275"/>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6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275"/>
                </a:solidFill>
                <a:latin typeface="+mn-lt"/>
              </a:defRPr>
            </a:pPr>
            <a:endParaRPr lang="en-US"/>
          </a:p>
        </c:txPr>
        <c:crossAx val="2094734554"/>
        <c:crosses val="autoZero"/>
        <c:crossBetween val="between"/>
        <c:majorUnit val="0.25"/>
      </c:valAx>
      <c:spPr>
        <a:solidFill>
          <a:srgbClr val="F1F3F9"/>
        </a:solidFill>
        <a:ln>
          <a:noFill/>
        </a:ln>
        <a:effectLst/>
      </c:spPr>
    </c:plotArea>
    <c:legend>
      <c:legendPos val="t"/>
      <c:overlay val="0"/>
      <c:txPr>
        <a:bodyPr/>
        <a:lstStyle/>
        <a:p>
          <a:pPr>
            <a:defRPr sz="1000">
              <a:solidFill>
                <a:srgbClr val="5B627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Presento el examen parcial. Sigue el mismo tema de la PC1 y la PC2, ahora sobre el Código Civil real, no sobre documentos sintéticos.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la PC1 clasifiqué pares que yo mismo emparejaba; en la PC2 intenté encontrarlos con recuperación densa, pero sobre documentos sintéticos. Ahora uso el Código Civil real. Respondo la observación de la PC2: JSON Schema compara los valores del enum carácter por carácter; la o con tilde es otro código Unicode, así que el objeto completo es inválido y, con política estricta, no hay consulta que enviar al índice. Por eso ahora busco con la pregunta original y el JSON de salida solo tiene un patrón fijo para las citas y un booleano.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s. A es la recuperación densa de la PC2. B agrega BM25 y fusiona con RRF; C reordena los 20 candidatos de B con un Cross-Encoder, así que no puede traer artículos nuevos. Los tres primeros de C son la evidencia del RAG. El corpus es mi corpus de tesis: cada artículo es un passage, porque en derecho se cita el artículo y en la PC2 el tamaño de chunk no cambió Recall@3. Las consultas tienen tres tipos para ver dónde falla cada sistema; las de contradicción tienen la regla general y la excepción como relevantes.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No leo la tabla completa; destaco tres filas. Semana 2: con evidencia el prompt pasa de 179 a 602 tokens y la probabilidad del primer token baja de 0.92 a 0.76; el modelo está menos seguro del formato. Semana 5: la fusión no es una mejora automática, lo muestro en la siguiente diapositiva con C13. Semana 7: el único intervalo que no cruza cero es nDCG@5 del reranker. Cada evidencia está en un notebook o en un CSV de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A conserva el mejor Recall@3. B baja todo, pero ningún intervalo lo hace significativo, y como agrega BM25 y RRF a la vez no puedo atribuirlo a una sola de las dos. C mejora el orden: la única diferencia que no cruza cero es nDCG@5 frente a B, por poco. El costo es 3 segundos por consulta en CPU. El error de C13 es un distractor léxico típico de un código: las mismas palabras en otra institución. Y el reranker no arregla las parafraseadas porque el artículo correcto nunca llega a los 20 candidatos; por ejemplo, 'intentó matar a su padre' frente a 'homicidio doloso o su tentativa'.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El RAG gana en forma: todas las salidas cumplen el schema y se abstiene en N02. Pero no gana en corrección: 1.5 frente a 2 de 10, y no cita ningún artículo aunque el prompt lo pide. C06 es la respuesta no sustentada: tenía el artículo correcto primero y contestó con el número de otro inciso. C05 es justo el tipo de caso de mi tema: tenía la regla y la excepción y aplicó la regla. N01 muestra el riesgo de un distractor que coincide literalmente con la pregunta. El cuello de botella está en el generador de 0.5B, no en la recuperación; no generalizo esto a modelos más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herramienta aplica el artículo 183 y la excepción del 2007, que es la misma pareja de la consulta C05: el LLM se equivocó en ese caso, la herramienta no. H08 es el error de dominio: los tipos son correctos, pero el vencimiento cae en 2027 y no tengo los feriados de ese año, así que prefiero un error a una fecha inventada. H11 agota tres intentos de 200 ms y termina en 753 ms, dentro del límite de 800. Las fallas son simuladas: el parámetro fault es del experimento, no de la interfaz.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Resumo los tres experimentos con su error. Las limitaciones se conocían antes de correr: consultas y qrels míos, un solo modelo pequeño y fallas simuladas. La conclusión se limita a este corpus y estas 20 consultas: la recuperación no es el problema principal, el generador sí. Para la demo puedo mostrar detalle('C13') en el notebook 01 y el caso H11 en el notebook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5C"/>
        </a:solidFill>
      </p:bgPr>
    </p:bg>
    <p:spTree>
      <p:nvGrpSpPr>
        <p:cNvPr id="1" name=""/>
        <p:cNvGrpSpPr/>
        <p:nvPr/>
      </p:nvGrpSpPr>
      <p:grpSpPr>
        <a:xfrm>
          <a:off x="0" y="0"/>
          <a:ext cx="0" cy="0"/>
          <a:chOff x="0" y="0"/>
          <a:chExt cx="0" cy="0"/>
        </a:xfrm>
      </p:grpSpPr>
      <p:sp>
        <p:nvSpPr>
          <p:cNvPr id="2" name="Text 0"/>
          <p:cNvSpPr txBox="1"/>
          <p:nvPr/>
        </p:nvSpPr>
        <p:spPr>
          <a:xfrm>
            <a:off x="548640" y="502920"/>
            <a:ext cx="7315200" cy="274320"/>
          </a:xfrm>
          <a:prstGeom prst="rect">
            <a:avLst/>
          </a:prstGeom>
          <a:noFill/>
          <a:ln/>
        </p:spPr>
        <p:txBody>
          <a:bodyPr wrap="square" lIns="0" tIns="0" rIns="0" bIns="0" rtlCol="0" anchor="t"/>
          <a:lstStyle/>
          <a:p>
            <a:pPr indent="0" marL="0">
              <a:buNone/>
            </a:pPr>
            <a:r>
              <a:rPr lang="en-US" sz="1100" b="1" spc="400" kern="0" dirty="0">
                <a:solidFill>
                  <a:srgbClr val="C9D0EA"/>
                </a:solidFill>
              </a:rPr>
              <a:t>CC0F4  EXAMEN PARCIAL</a:t>
            </a:r>
            <a:endParaRPr lang="en-US" sz="1100" dirty="0"/>
          </a:p>
        </p:txBody>
      </p:sp>
      <p:sp>
        <p:nvSpPr>
          <p:cNvPr id="3" name="Text 1"/>
          <p:cNvSpPr txBox="1"/>
          <p:nvPr/>
        </p:nvSpPr>
        <p:spPr>
          <a:xfrm>
            <a:off x="548640" y="1234440"/>
            <a:ext cx="6675120" cy="21945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Recuperación, RAG y una herramienta con contratos sobre el Código Civil peruano</a:t>
            </a:r>
            <a:endParaRPr lang="en-US" sz="3600" dirty="0"/>
          </a:p>
        </p:txBody>
      </p:sp>
      <p:sp>
        <p:nvSpPr>
          <p:cNvPr id="4" name="Text 2"/>
          <p:cNvSpPr txBox="1"/>
          <p:nvPr/>
        </p:nvSpPr>
        <p:spPr>
          <a:xfrm>
            <a:off x="548640" y="3611880"/>
            <a:ext cx="6400800" cy="320040"/>
          </a:xfrm>
          <a:prstGeom prst="rect">
            <a:avLst/>
          </a:prstGeom>
          <a:noFill/>
          <a:ln/>
        </p:spPr>
        <p:txBody>
          <a:bodyPr wrap="square" lIns="0" tIns="0" rIns="0" bIns="0" rtlCol="0" anchor="t"/>
          <a:lstStyle/>
          <a:p>
            <a:pPr indent="0" marL="0">
              <a:buNone/>
            </a:pPr>
            <a:r>
              <a:rPr lang="en-US" sz="1600" dirty="0">
                <a:solidFill>
                  <a:srgbClr val="DDE2F2"/>
                </a:solidFill>
              </a:rPr>
              <a:t>Carlos Sinai Unda Miguel</a:t>
            </a:r>
            <a:endParaRPr lang="en-US" sz="1600" dirty="0"/>
          </a:p>
        </p:txBody>
      </p:sp>
      <p:sp>
        <p:nvSpPr>
          <p:cNvPr id="5" name="Text 3"/>
          <p:cNvSpPr txBox="1"/>
          <p:nvPr/>
        </p:nvSpPr>
        <p:spPr>
          <a:xfrm>
            <a:off x="548640" y="4206240"/>
            <a:ext cx="6217920" cy="914400"/>
          </a:xfrm>
          <a:prstGeom prst="rect">
            <a:avLst/>
          </a:prstGeom>
          <a:noFill/>
          <a:ln/>
        </p:spPr>
        <p:txBody>
          <a:bodyPr wrap="square" lIns="0" tIns="0" rIns="0" bIns="0" rtlCol="0" anchor="t"/>
          <a:lstStyle/>
          <a:p>
            <a:pPr indent="0" marL="0">
              <a:buNone/>
            </a:pPr>
            <a:r>
              <a:rPr lang="en-US" sz="1500" dirty="0">
                <a:solidFill>
                  <a:srgbClr val="DDE2F2"/>
                </a:solidFill>
              </a:rPr>
              <a:t>Continuación de la PC1 y la PC2: detección de contradicciones normativas. Repositorio con la etiqueta examen-parcial.</a:t>
            </a:r>
            <a:endParaRPr lang="en-US" sz="1500" dirty="0"/>
          </a:p>
        </p:txBody>
      </p:sp>
      <p:sp>
        <p:nvSpPr>
          <p:cNvPr id="6" name="Shape 4"/>
          <p:cNvSpPr/>
          <p:nvPr/>
        </p:nvSpPr>
        <p:spPr>
          <a:xfrm>
            <a:off x="7635240" y="822960"/>
            <a:ext cx="3977640" cy="5212080"/>
          </a:xfrm>
          <a:prstGeom prst="roundRect">
            <a:avLst>
              <a:gd name="adj" fmla="val 1839"/>
            </a:avLst>
          </a:prstGeom>
          <a:solidFill>
            <a:srgbClr val="17204A"/>
          </a:solidFill>
          <a:ln w="12700">
            <a:solidFill>
              <a:srgbClr val="17204A"/>
            </a:solidFill>
            <a:prstDash val="solid"/>
          </a:ln>
        </p:spPr>
      </p:sp>
      <p:sp>
        <p:nvSpPr>
          <p:cNvPr id="7" name="Text 5"/>
          <p:cNvSpPr txBox="1"/>
          <p:nvPr/>
        </p:nvSpPr>
        <p:spPr>
          <a:xfrm>
            <a:off x="7955280" y="1051560"/>
            <a:ext cx="3474720" cy="320040"/>
          </a:xfrm>
          <a:prstGeom prst="rect">
            <a:avLst/>
          </a:prstGeom>
          <a:noFill/>
          <a:ln/>
        </p:spPr>
        <p:txBody>
          <a:bodyPr wrap="square" lIns="0" tIns="0" rIns="0" bIns="0" rtlCol="0" anchor="t"/>
          <a:lstStyle/>
          <a:p>
            <a:pPr indent="0" marL="0">
              <a:buNone/>
            </a:pPr>
            <a:r>
              <a:rPr lang="en-US" sz="1400" b="1" dirty="0">
                <a:solidFill>
                  <a:srgbClr val="FFFFFF"/>
                </a:solidFill>
              </a:rPr>
              <a:t>Corpus y evaluación</a:t>
            </a:r>
            <a:endParaRPr lang="en-US" sz="1400" dirty="0"/>
          </a:p>
        </p:txBody>
      </p:sp>
      <p:sp>
        <p:nvSpPr>
          <p:cNvPr id="8" name="Text 6"/>
          <p:cNvSpPr txBox="1"/>
          <p:nvPr/>
        </p:nvSpPr>
        <p:spPr>
          <a:xfrm>
            <a:off x="7955280" y="1600200"/>
            <a:ext cx="33832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2115</a:t>
            </a:r>
            <a:endParaRPr lang="en-US" sz="3000" dirty="0"/>
          </a:p>
        </p:txBody>
      </p:sp>
      <p:sp>
        <p:nvSpPr>
          <p:cNvPr id="9" name="Text 7"/>
          <p:cNvSpPr txBox="1"/>
          <p:nvPr/>
        </p:nvSpPr>
        <p:spPr>
          <a:xfrm>
            <a:off x="7955280" y="2148840"/>
            <a:ext cx="3383280" cy="320040"/>
          </a:xfrm>
          <a:prstGeom prst="rect">
            <a:avLst/>
          </a:prstGeom>
          <a:noFill/>
          <a:ln/>
        </p:spPr>
        <p:txBody>
          <a:bodyPr wrap="square" lIns="0" tIns="0" rIns="0" bIns="0" rtlCol="0" anchor="t"/>
          <a:lstStyle/>
          <a:p>
            <a:pPr indent="0" marL="0">
              <a:buNone/>
            </a:pPr>
            <a:r>
              <a:rPr lang="en-US" sz="1300" dirty="0">
                <a:solidFill>
                  <a:srgbClr val="C9D0EA"/>
                </a:solidFill>
              </a:rPr>
              <a:t>artículos vigentes indexados</a:t>
            </a:r>
            <a:endParaRPr lang="en-US" sz="1300" dirty="0"/>
          </a:p>
        </p:txBody>
      </p:sp>
      <p:sp>
        <p:nvSpPr>
          <p:cNvPr id="10" name="Text 8"/>
          <p:cNvSpPr txBox="1"/>
          <p:nvPr/>
        </p:nvSpPr>
        <p:spPr>
          <a:xfrm>
            <a:off x="7955280" y="2679192"/>
            <a:ext cx="33832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p:txBody>
      </p:sp>
      <p:sp>
        <p:nvSpPr>
          <p:cNvPr id="11" name="Text 9"/>
          <p:cNvSpPr txBox="1"/>
          <p:nvPr/>
        </p:nvSpPr>
        <p:spPr>
          <a:xfrm>
            <a:off x="7955280" y="3227832"/>
            <a:ext cx="3383280" cy="320040"/>
          </a:xfrm>
          <a:prstGeom prst="rect">
            <a:avLst/>
          </a:prstGeom>
          <a:noFill/>
          <a:ln/>
        </p:spPr>
        <p:txBody>
          <a:bodyPr wrap="square" lIns="0" tIns="0" rIns="0" bIns="0" rtlCol="0" anchor="t"/>
          <a:lstStyle/>
          <a:p>
            <a:pPr indent="0" marL="0">
              <a:buNone/>
            </a:pPr>
            <a:r>
              <a:rPr lang="en-US" sz="1300" dirty="0">
                <a:solidFill>
                  <a:srgbClr val="C9D0EA"/>
                </a:solidFill>
              </a:rPr>
              <a:t>consultas, 31 pares relevantes</a:t>
            </a:r>
            <a:endParaRPr lang="en-US" sz="1300" dirty="0"/>
          </a:p>
        </p:txBody>
      </p:sp>
      <p:sp>
        <p:nvSpPr>
          <p:cNvPr id="12" name="Text 10"/>
          <p:cNvSpPr txBox="1"/>
          <p:nvPr/>
        </p:nvSpPr>
        <p:spPr>
          <a:xfrm>
            <a:off x="7955280" y="3758184"/>
            <a:ext cx="33832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12</a:t>
            </a:r>
            <a:endParaRPr lang="en-US" sz="3000" dirty="0"/>
          </a:p>
        </p:txBody>
      </p:sp>
      <p:sp>
        <p:nvSpPr>
          <p:cNvPr id="13" name="Text 11"/>
          <p:cNvSpPr txBox="1"/>
          <p:nvPr/>
        </p:nvSpPr>
        <p:spPr>
          <a:xfrm>
            <a:off x="7955280" y="4306824"/>
            <a:ext cx="3383280" cy="320040"/>
          </a:xfrm>
          <a:prstGeom prst="rect">
            <a:avLst/>
          </a:prstGeom>
          <a:noFill/>
          <a:ln/>
        </p:spPr>
        <p:txBody>
          <a:bodyPr wrap="square" lIns="0" tIns="0" rIns="0" bIns="0" rtlCol="0" anchor="t"/>
          <a:lstStyle/>
          <a:p>
            <a:pPr indent="0" marL="0">
              <a:buNone/>
            </a:pPr>
            <a:r>
              <a:rPr lang="en-US" sz="1300" dirty="0">
                <a:solidFill>
                  <a:srgbClr val="C9D0EA"/>
                </a:solidFill>
              </a:rPr>
              <a:t>preguntas para RAG, 2 sin evidencia</a:t>
            </a:r>
            <a:endParaRPr lang="en-US" sz="1300" dirty="0"/>
          </a:p>
        </p:txBody>
      </p:sp>
      <p:sp>
        <p:nvSpPr>
          <p:cNvPr id="14" name="Text 12"/>
          <p:cNvSpPr txBox="1"/>
          <p:nvPr/>
        </p:nvSpPr>
        <p:spPr>
          <a:xfrm>
            <a:off x="7955280" y="4837176"/>
            <a:ext cx="33832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13</a:t>
            </a:r>
            <a:endParaRPr lang="en-US" sz="3000" dirty="0"/>
          </a:p>
        </p:txBody>
      </p:sp>
      <p:sp>
        <p:nvSpPr>
          <p:cNvPr id="15" name="Text 13"/>
          <p:cNvSpPr txBox="1"/>
          <p:nvPr/>
        </p:nvSpPr>
        <p:spPr>
          <a:xfrm>
            <a:off x="7955280" y="5385816"/>
            <a:ext cx="3383280" cy="320040"/>
          </a:xfrm>
          <a:prstGeom prst="rect">
            <a:avLst/>
          </a:prstGeom>
          <a:noFill/>
          <a:ln/>
        </p:spPr>
        <p:txBody>
          <a:bodyPr wrap="square" lIns="0" tIns="0" rIns="0" bIns="0" rtlCol="0" anchor="t"/>
          <a:lstStyle/>
          <a:p>
            <a:pPr indent="0" marL="0">
              <a:buNone/>
            </a:pPr>
            <a:r>
              <a:rPr lang="en-US" sz="1300" dirty="0">
                <a:solidFill>
                  <a:srgbClr val="C9D0EA"/>
                </a:solidFill>
              </a:rPr>
              <a:t>casos de la herramienta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PROBLEMA Y CONTINUIDAD</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Antes de detectar contradicciones hay que encontrar las normas</a:t>
            </a:r>
            <a:endParaRPr lang="en-US" sz="3000" dirty="0"/>
          </a:p>
        </p:txBody>
      </p:sp>
      <p:sp>
        <p:nvSpPr>
          <p:cNvPr id="4" name="Shape 2"/>
          <p:cNvSpPr/>
          <p:nvPr/>
        </p:nvSpPr>
        <p:spPr>
          <a:xfrm>
            <a:off x="548640" y="1691640"/>
            <a:ext cx="3515258" cy="2148840"/>
          </a:xfrm>
          <a:prstGeom prst="roundRect">
            <a:avLst>
              <a:gd name="adj" fmla="val 3404"/>
            </a:avLst>
          </a:prstGeom>
          <a:solidFill>
            <a:srgbClr val="F1F3F9"/>
          </a:solidFill>
          <a:ln w="12700">
            <a:solidFill>
              <a:srgbClr val="F1F3F9"/>
            </a:solidFill>
            <a:prstDash val="solid"/>
          </a:ln>
        </p:spPr>
      </p:sp>
      <p:sp>
        <p:nvSpPr>
          <p:cNvPr id="5" name="Text 3"/>
          <p:cNvSpPr txBox="1"/>
          <p:nvPr/>
        </p:nvSpPr>
        <p:spPr>
          <a:xfrm>
            <a:off x="822960" y="1874520"/>
            <a:ext cx="2966618" cy="320040"/>
          </a:xfrm>
          <a:prstGeom prst="rect">
            <a:avLst/>
          </a:prstGeom>
          <a:noFill/>
          <a:ln/>
        </p:spPr>
        <p:txBody>
          <a:bodyPr wrap="square" lIns="0" tIns="0" rIns="0" bIns="0" rtlCol="0" anchor="t"/>
          <a:lstStyle/>
          <a:p>
            <a:pPr indent="0" marL="0">
              <a:buNone/>
            </a:pPr>
            <a:r>
              <a:rPr lang="en-US" sz="1600" b="1" dirty="0">
                <a:solidFill>
                  <a:srgbClr val="1F2A5C"/>
                </a:solidFill>
              </a:rPr>
              <a:t>PC1</a:t>
            </a:r>
            <a:endParaRPr lang="en-US" sz="1600" dirty="0"/>
          </a:p>
        </p:txBody>
      </p:sp>
      <p:sp>
        <p:nvSpPr>
          <p:cNvPr id="6" name="Text 4"/>
          <p:cNvSpPr txBox="1"/>
          <p:nvPr/>
        </p:nvSpPr>
        <p:spPr>
          <a:xfrm>
            <a:off x="822960" y="2286000"/>
            <a:ext cx="2966618" cy="731520"/>
          </a:xfrm>
          <a:prstGeom prst="rect">
            <a:avLst/>
          </a:prstGeom>
          <a:noFill/>
          <a:ln/>
        </p:spPr>
        <p:txBody>
          <a:bodyPr wrap="square" lIns="0" tIns="0" rIns="0" bIns="0" rtlCol="0" anchor="t"/>
          <a:lstStyle/>
          <a:p>
            <a:pPr indent="0" marL="0">
              <a:buNone/>
            </a:pPr>
            <a:r>
              <a:rPr lang="en-US" sz="1300" dirty="0">
                <a:solidFill>
                  <a:srgbClr val="1E2235"/>
                </a:solidFill>
              </a:rPr>
              <a:t>Clasificador con Qwen2.5-0.5B sobre pares ya emparejados.</a:t>
            </a:r>
            <a:endParaRPr lang="en-US" sz="1300" dirty="0"/>
          </a:p>
        </p:txBody>
      </p:sp>
      <p:sp>
        <p:nvSpPr>
          <p:cNvPr id="7" name="Text 5"/>
          <p:cNvSpPr txBox="1"/>
          <p:nvPr/>
        </p:nvSpPr>
        <p:spPr>
          <a:xfrm>
            <a:off x="822960" y="3063240"/>
            <a:ext cx="2966618" cy="685800"/>
          </a:xfrm>
          <a:prstGeom prst="rect">
            <a:avLst/>
          </a:prstGeom>
          <a:noFill/>
          <a:ln/>
        </p:spPr>
        <p:txBody>
          <a:bodyPr wrap="square" lIns="0" tIns="0" rIns="0" bIns="0" rtlCol="0" anchor="t"/>
          <a:lstStyle/>
          <a:p>
            <a:pPr indent="0" marL="0">
              <a:buNone/>
            </a:pPr>
            <a:r>
              <a:rPr lang="en-US" sz="1200" dirty="0">
                <a:solidFill>
                  <a:srgbClr val="5B6275"/>
                </a:solidFill>
              </a:rPr>
              <a:t>El par llegaba hecho a mano; 9 casos sintéticos.</a:t>
            </a:r>
            <a:endParaRPr lang="en-US" sz="1200" dirty="0"/>
          </a:p>
        </p:txBody>
      </p:sp>
      <p:sp>
        <p:nvSpPr>
          <p:cNvPr id="8" name="Shape 6"/>
          <p:cNvSpPr/>
          <p:nvPr/>
        </p:nvSpPr>
        <p:spPr>
          <a:xfrm>
            <a:off x="4338218" y="1691640"/>
            <a:ext cx="3515258" cy="2148840"/>
          </a:xfrm>
          <a:prstGeom prst="roundRect">
            <a:avLst>
              <a:gd name="adj" fmla="val 3404"/>
            </a:avLst>
          </a:prstGeom>
          <a:solidFill>
            <a:srgbClr val="F1F3F9"/>
          </a:solidFill>
          <a:ln w="12700">
            <a:solidFill>
              <a:srgbClr val="F1F3F9"/>
            </a:solidFill>
            <a:prstDash val="solid"/>
          </a:ln>
        </p:spPr>
      </p:sp>
      <p:sp>
        <p:nvSpPr>
          <p:cNvPr id="9" name="Text 7"/>
          <p:cNvSpPr txBox="1"/>
          <p:nvPr/>
        </p:nvSpPr>
        <p:spPr>
          <a:xfrm>
            <a:off x="4612538" y="1874520"/>
            <a:ext cx="2966618" cy="320040"/>
          </a:xfrm>
          <a:prstGeom prst="rect">
            <a:avLst/>
          </a:prstGeom>
          <a:noFill/>
          <a:ln/>
        </p:spPr>
        <p:txBody>
          <a:bodyPr wrap="square" lIns="0" tIns="0" rIns="0" bIns="0" rtlCol="0" anchor="t"/>
          <a:lstStyle/>
          <a:p>
            <a:pPr indent="0" marL="0">
              <a:buNone/>
            </a:pPr>
            <a:r>
              <a:rPr lang="en-US" sz="1600" b="1" dirty="0">
                <a:solidFill>
                  <a:srgbClr val="1F2A5C"/>
                </a:solidFill>
              </a:rPr>
              <a:t>PC2</a:t>
            </a:r>
            <a:endParaRPr lang="en-US" sz="1600" dirty="0"/>
          </a:p>
        </p:txBody>
      </p:sp>
      <p:sp>
        <p:nvSpPr>
          <p:cNvPr id="10" name="Text 8"/>
          <p:cNvSpPr txBox="1"/>
          <p:nvPr/>
        </p:nvSpPr>
        <p:spPr>
          <a:xfrm>
            <a:off x="4612538" y="2286000"/>
            <a:ext cx="2966618" cy="731520"/>
          </a:xfrm>
          <a:prstGeom prst="rect">
            <a:avLst/>
          </a:prstGeom>
          <a:noFill/>
          <a:ln/>
        </p:spPr>
        <p:txBody>
          <a:bodyPr wrap="square" lIns="0" tIns="0" rIns="0" bIns="0" rtlCol="0" anchor="t"/>
          <a:lstStyle/>
          <a:p>
            <a:pPr indent="0" marL="0">
              <a:buNone/>
            </a:pPr>
            <a:r>
              <a:rPr lang="en-US" sz="1300" dirty="0">
                <a:solidFill>
                  <a:srgbClr val="1E2235"/>
                </a:solidFill>
              </a:rPr>
              <a:t>Recuperación densa E5 + FAISS con consulta estructurada.</a:t>
            </a:r>
            <a:endParaRPr lang="en-US" sz="1300" dirty="0"/>
          </a:p>
        </p:txBody>
      </p:sp>
      <p:sp>
        <p:nvSpPr>
          <p:cNvPr id="11" name="Text 9"/>
          <p:cNvSpPr txBox="1"/>
          <p:nvPr/>
        </p:nvSpPr>
        <p:spPr>
          <a:xfrm>
            <a:off x="4612538" y="3063240"/>
            <a:ext cx="2966618" cy="685800"/>
          </a:xfrm>
          <a:prstGeom prst="rect">
            <a:avLst/>
          </a:prstGeom>
          <a:noFill/>
          <a:ln/>
        </p:spPr>
        <p:txBody>
          <a:bodyPr wrap="square" lIns="0" tIns="0" rIns="0" bIns="0" rtlCol="0" anchor="t"/>
          <a:lstStyle/>
          <a:p>
            <a:pPr indent="0" marL="0">
              <a:buNone/>
            </a:pPr>
            <a:r>
              <a:rPr lang="en-US" sz="1200" dirty="0">
                <a:solidFill>
                  <a:srgbClr val="5B6275"/>
                </a:solidFill>
              </a:rPr>
              <a:t>10 documentos sintéticos; 4 de 6 JSON inválidos por una tilde.</a:t>
            </a:r>
            <a:endParaRPr lang="en-US" sz="1200" dirty="0"/>
          </a:p>
        </p:txBody>
      </p:sp>
      <p:sp>
        <p:nvSpPr>
          <p:cNvPr id="12" name="Shape 10"/>
          <p:cNvSpPr/>
          <p:nvPr/>
        </p:nvSpPr>
        <p:spPr>
          <a:xfrm>
            <a:off x="8127797" y="1691640"/>
            <a:ext cx="3515258" cy="2148840"/>
          </a:xfrm>
          <a:prstGeom prst="roundRect">
            <a:avLst>
              <a:gd name="adj" fmla="val 3404"/>
            </a:avLst>
          </a:prstGeom>
          <a:solidFill>
            <a:srgbClr val="E4E8F5"/>
          </a:solidFill>
          <a:ln w="12700">
            <a:solidFill>
              <a:srgbClr val="E4E8F5"/>
            </a:solidFill>
            <a:prstDash val="solid"/>
          </a:ln>
        </p:spPr>
      </p:sp>
      <p:sp>
        <p:nvSpPr>
          <p:cNvPr id="13" name="Text 11"/>
          <p:cNvSpPr txBox="1"/>
          <p:nvPr/>
        </p:nvSpPr>
        <p:spPr>
          <a:xfrm>
            <a:off x="8402117" y="1874520"/>
            <a:ext cx="2966618" cy="320040"/>
          </a:xfrm>
          <a:prstGeom prst="rect">
            <a:avLst/>
          </a:prstGeom>
          <a:noFill/>
          <a:ln/>
        </p:spPr>
        <p:txBody>
          <a:bodyPr wrap="square" lIns="0" tIns="0" rIns="0" bIns="0" rtlCol="0" anchor="t"/>
          <a:lstStyle/>
          <a:p>
            <a:pPr indent="0" marL="0">
              <a:buNone/>
            </a:pPr>
            <a:r>
              <a:rPr lang="en-US" sz="1600" b="1" dirty="0">
                <a:solidFill>
                  <a:srgbClr val="1F2A5C"/>
                </a:solidFill>
              </a:rPr>
              <a:t>Parcial</a:t>
            </a:r>
            <a:endParaRPr lang="en-US" sz="1600" dirty="0"/>
          </a:p>
        </p:txBody>
      </p:sp>
      <p:sp>
        <p:nvSpPr>
          <p:cNvPr id="14" name="Text 12"/>
          <p:cNvSpPr txBox="1"/>
          <p:nvPr/>
        </p:nvSpPr>
        <p:spPr>
          <a:xfrm>
            <a:off x="8402117" y="2286000"/>
            <a:ext cx="2966618" cy="731520"/>
          </a:xfrm>
          <a:prstGeom prst="rect">
            <a:avLst/>
          </a:prstGeom>
          <a:noFill/>
          <a:ln/>
        </p:spPr>
        <p:txBody>
          <a:bodyPr wrap="square" lIns="0" tIns="0" rIns="0" bIns="0" rtlCol="0" anchor="t"/>
          <a:lstStyle/>
          <a:p>
            <a:pPr indent="0" marL="0">
              <a:buNone/>
            </a:pPr>
            <a:r>
              <a:rPr lang="en-US" sz="1300" dirty="0">
                <a:solidFill>
                  <a:srgbClr val="1E2235"/>
                </a:solidFill>
              </a:rPr>
              <a:t>Recuperación A/B/C, RAG con citas auditado a mano y una herramienta de plazos.</a:t>
            </a:r>
            <a:endParaRPr lang="en-US" sz="1300" dirty="0"/>
          </a:p>
        </p:txBody>
      </p:sp>
      <p:sp>
        <p:nvSpPr>
          <p:cNvPr id="15" name="Text 13"/>
          <p:cNvSpPr txBox="1"/>
          <p:nvPr/>
        </p:nvSpPr>
        <p:spPr>
          <a:xfrm>
            <a:off x="8402117" y="3063240"/>
            <a:ext cx="2966618" cy="685800"/>
          </a:xfrm>
          <a:prstGeom prst="rect">
            <a:avLst/>
          </a:prstGeom>
          <a:noFill/>
          <a:ln/>
        </p:spPr>
        <p:txBody>
          <a:bodyPr wrap="square" lIns="0" tIns="0" rIns="0" bIns="0" rtlCol="0" anchor="t"/>
          <a:lstStyle/>
          <a:p>
            <a:pPr indent="0" marL="0">
              <a:buNone/>
            </a:pPr>
            <a:r>
              <a:rPr lang="en-US" sz="1200" dirty="0">
                <a:solidFill>
                  <a:srgbClr val="5B6275"/>
                </a:solidFill>
              </a:rPr>
              <a:t>Código Civil real (D.L. 295), qrels anotados antes de comparar.</a:t>
            </a:r>
            <a:endParaRPr lang="en-US" sz="1200" dirty="0"/>
          </a:p>
        </p:txBody>
      </p:sp>
      <p:sp>
        <p:nvSpPr>
          <p:cNvPr id="16" name="Shape 14"/>
          <p:cNvSpPr/>
          <p:nvPr/>
        </p:nvSpPr>
        <p:spPr>
          <a:xfrm>
            <a:off x="548640" y="4069080"/>
            <a:ext cx="11094415" cy="2103120"/>
          </a:xfrm>
          <a:prstGeom prst="roundRect">
            <a:avLst>
              <a:gd name="adj" fmla="val 3478"/>
            </a:avLst>
          </a:prstGeom>
          <a:solidFill>
            <a:srgbClr val="FFFFFF"/>
          </a:solidFill>
          <a:ln w="12700">
            <a:solidFill>
              <a:srgbClr val="D5DAE8"/>
            </a:solidFill>
            <a:prstDash val="solid"/>
          </a:ln>
        </p:spPr>
      </p:sp>
      <p:sp>
        <p:nvSpPr>
          <p:cNvPr id="17" name="Text 15"/>
          <p:cNvSpPr txBox="1"/>
          <p:nvPr/>
        </p:nvSpPr>
        <p:spPr>
          <a:xfrm>
            <a:off x="822960" y="4224528"/>
            <a:ext cx="10058400" cy="320040"/>
          </a:xfrm>
          <a:prstGeom prst="rect">
            <a:avLst/>
          </a:prstGeom>
          <a:noFill/>
          <a:ln/>
        </p:spPr>
        <p:txBody>
          <a:bodyPr wrap="square" lIns="0" tIns="0" rIns="0" bIns="0" rtlCol="0" anchor="t"/>
          <a:lstStyle/>
          <a:p>
            <a:pPr indent="0" marL="0">
              <a:buNone/>
            </a:pPr>
            <a:r>
              <a:rPr lang="en-US" sz="1500" b="1" dirty="0">
                <a:solidFill>
                  <a:srgbClr val="1F2A5C"/>
                </a:solidFill>
              </a:rPr>
              <a:t>Observación de la PC2: por qué una tilde impide toda la búsqueda</a:t>
            </a:r>
            <a:endParaRPr lang="en-US" sz="1500" dirty="0"/>
          </a:p>
        </p:txBody>
      </p:sp>
      <p:sp>
        <p:nvSpPr>
          <p:cNvPr id="18" name="Text 16"/>
          <p:cNvSpPr txBox="1"/>
          <p:nvPr/>
        </p:nvSpPr>
        <p:spPr>
          <a:xfrm>
            <a:off x="822960" y="4663440"/>
            <a:ext cx="5669280" cy="1371600"/>
          </a:xfrm>
          <a:prstGeom prst="rect">
            <a:avLst/>
          </a:prstGeom>
          <a:noFill/>
          <a:ln/>
        </p:spPr>
        <p:txBody>
          <a:bodyPr wrap="square" lIns="0" tIns="0" rIns="0" bIns="0" rtlCol="0" anchor="t"/>
          <a:lstStyle/>
          <a:p>
            <a:pPr indent="0" marL="0">
              <a:buNone/>
            </a:pPr>
            <a:r>
              <a:rPr lang="en-US" sz="1400" dirty="0">
                <a:solidFill>
                  <a:srgbClr val="C8553D"/>
                </a:solidFill>
                <a:latin typeface="Courier New" pitchFamily="34" charset="0"/>
                <a:ea typeface="Courier New" pitchFamily="34" charset="-122"/>
                <a:cs typeface="Courier New" pitchFamily="34" charset="-120"/>
              </a:rPr>
              <a:t>"prohibición_permiso"</a:t>
            </a:r>
            <a:endParaRPr lang="en-US" sz="1400" dirty="0"/>
          </a:p>
          <a:p>
            <a:pPr indent="0" marL="0">
              <a:buNone/>
            </a:pPr>
            <a:r>
              <a:rPr lang="en-US" sz="1400" dirty="0">
                <a:solidFill>
                  <a:srgbClr val="2E3C7A"/>
                </a:solidFill>
                <a:latin typeface="Courier New" pitchFamily="34" charset="0"/>
                <a:ea typeface="Courier New" pitchFamily="34" charset="-122"/>
                <a:cs typeface="Courier New" pitchFamily="34" charset="-120"/>
              </a:rPr>
              <a:t>"prohibicion_permiso"</a:t>
            </a:r>
            <a:endParaRPr lang="en-US" sz="1400" dirty="0"/>
          </a:p>
          <a:p>
            <a:pPr indent="0" marL="0">
              <a:buNone/>
            </a:pPr>
            <a:r>
              <a:rPr lang="en-US" sz="1200" dirty="0">
                <a:solidFill>
                  <a:srgbClr val="5B6275"/>
                </a:solidFill>
              </a:rPr>
              <a:t>ó es U+00F3 y o es U+006F: el enum del JSON Schema compara cadenas exactas.</a:t>
            </a:r>
            <a:endParaRPr lang="en-US" sz="1400" dirty="0"/>
          </a:p>
        </p:txBody>
      </p:sp>
      <p:sp>
        <p:nvSpPr>
          <p:cNvPr id="19" name="Text 17"/>
          <p:cNvSpPr txBox="1"/>
          <p:nvPr/>
        </p:nvSpPr>
        <p:spPr>
          <a:xfrm>
            <a:off x="6766560" y="4663440"/>
            <a:ext cx="4602175"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E2235"/>
                </a:solidFill>
              </a:rPr>
              <a:t>Un carácter invalida el objeto, la consulta estructurada no pasa la validación y la búsqueda no se ejecuta.</a:t>
            </a:r>
            <a:endParaRPr lang="en-US" sz="1300" dirty="0"/>
          </a:p>
          <a:p>
            <a:pPr marL="177800" indent="-177800">
              <a:spcAft>
                <a:spcPts val="500"/>
              </a:spcAft>
              <a:buSzPct val="100000"/>
              <a:buChar char="•"/>
            </a:pPr>
            <a:r>
              <a:rPr lang="en-US" sz="1300" dirty="0">
                <a:solidFill>
                  <a:srgbClr val="1E2235"/>
                </a:solidFill>
              </a:rPr>
              <a:t>En el parcial se busca con la pregunta original y la salida no tiene enums de texto: citas con patrón cc_art_N y abstención booleana.</a:t>
            </a:r>
            <a:endParaRPr lang="en-US" sz="130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ARQUITECTURA Y DATOS</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Tres condiciones de recuperación y un generador que debe citar</a:t>
            </a:r>
            <a:endParaRPr lang="en-US" sz="3000" dirty="0"/>
          </a:p>
        </p:txBody>
      </p:sp>
      <p:sp>
        <p:nvSpPr>
          <p:cNvPr id="4" name="Shape 2"/>
          <p:cNvSpPr/>
          <p:nvPr/>
        </p:nvSpPr>
        <p:spPr>
          <a:xfrm>
            <a:off x="548640" y="1691640"/>
            <a:ext cx="1216152" cy="777240"/>
          </a:xfrm>
          <a:prstGeom prst="roundRect">
            <a:avLst>
              <a:gd name="adj" fmla="val 7059"/>
            </a:avLst>
          </a:prstGeom>
          <a:solidFill>
            <a:srgbClr val="F1F3F9"/>
          </a:solidFill>
          <a:ln w="12700">
            <a:solidFill>
              <a:srgbClr val="D5DAE8"/>
            </a:solidFill>
            <a:prstDash val="solid"/>
          </a:ln>
        </p:spPr>
      </p:sp>
      <p:sp>
        <p:nvSpPr>
          <p:cNvPr id="5" name="Text 3"/>
          <p:cNvSpPr txBox="1"/>
          <p:nvPr/>
        </p:nvSpPr>
        <p:spPr>
          <a:xfrm>
            <a:off x="548640" y="1691640"/>
            <a:ext cx="1216152" cy="777240"/>
          </a:xfrm>
          <a:prstGeom prst="rect">
            <a:avLst/>
          </a:prstGeom>
          <a:noFill/>
          <a:ln/>
        </p:spPr>
        <p:txBody>
          <a:bodyPr wrap="square" lIns="0" tIns="0" rIns="0" bIns="0" rtlCol="0" anchor="ctr"/>
          <a:lstStyle/>
          <a:p>
            <a:pPr algn="ctr" indent="0" marL="0">
              <a:buNone/>
            </a:pPr>
            <a:r>
              <a:rPr lang="en-US" sz="1100" dirty="0">
                <a:solidFill>
                  <a:srgbClr val="1E2235"/>
                </a:solidFill>
              </a:rPr>
              <a:t>Pregunta</a:t>
            </a:r>
            <a:endParaRPr lang="en-US" sz="1100" dirty="0"/>
          </a:p>
        </p:txBody>
      </p:sp>
      <p:sp>
        <p:nvSpPr>
          <p:cNvPr id="6" name="Shape 4"/>
          <p:cNvSpPr/>
          <p:nvPr/>
        </p:nvSpPr>
        <p:spPr>
          <a:xfrm>
            <a:off x="1783080" y="2080260"/>
            <a:ext cx="118872" cy="0"/>
          </a:xfrm>
          <a:prstGeom prst="line">
            <a:avLst/>
          </a:prstGeom>
          <a:noFill/>
          <a:ln w="12700">
            <a:solidFill>
              <a:srgbClr val="5B6275"/>
            </a:solidFill>
            <a:prstDash val="solid"/>
            <a:tailEnd type="triangle"/>
          </a:ln>
        </p:spPr>
      </p:sp>
      <p:sp>
        <p:nvSpPr>
          <p:cNvPr id="7" name="Shape 5"/>
          <p:cNvSpPr/>
          <p:nvPr/>
        </p:nvSpPr>
        <p:spPr>
          <a:xfrm>
            <a:off x="1920240" y="1691640"/>
            <a:ext cx="1216152" cy="777240"/>
          </a:xfrm>
          <a:prstGeom prst="roundRect">
            <a:avLst>
              <a:gd name="adj" fmla="val 7059"/>
            </a:avLst>
          </a:prstGeom>
          <a:solidFill>
            <a:srgbClr val="1F2A5C"/>
          </a:solidFill>
          <a:ln w="12700">
            <a:solidFill>
              <a:srgbClr val="1F2A5C"/>
            </a:solidFill>
            <a:prstDash val="solid"/>
          </a:ln>
        </p:spPr>
      </p:sp>
      <p:sp>
        <p:nvSpPr>
          <p:cNvPr id="8" name="Text 6"/>
          <p:cNvSpPr txBox="1"/>
          <p:nvPr/>
        </p:nvSpPr>
        <p:spPr>
          <a:xfrm>
            <a:off x="1920240" y="1691640"/>
            <a:ext cx="1216152" cy="777240"/>
          </a:xfrm>
          <a:prstGeom prst="rect">
            <a:avLst/>
          </a:prstGeom>
          <a:noFill/>
          <a:ln/>
        </p:spPr>
        <p:txBody>
          <a:bodyPr wrap="square" lIns="0" tIns="0" rIns="0" bIns="0" rtlCol="0" anchor="ctr"/>
          <a:lstStyle/>
          <a:p>
            <a:pPr algn="ctr" indent="0" marL="0">
              <a:buNone/>
            </a:pPr>
            <a:r>
              <a:rPr lang="en-US" sz="1100" b="1" dirty="0">
                <a:solidFill>
                  <a:srgbClr val="FFFFFF"/>
                </a:solidFill>
              </a:rPr>
              <a:t>E5 + FAISS</a:t>
            </a:r>
            <a:endParaRPr lang="en-US" sz="1100" dirty="0"/>
          </a:p>
          <a:p>
            <a:pPr algn="ctr" indent="0" marL="0">
              <a:buNone/>
            </a:pPr>
            <a:r>
              <a:rPr lang="en-US" sz="1100" b="1" dirty="0">
                <a:solidFill>
                  <a:srgbClr val="FFFFFF"/>
                </a:solidFill>
              </a:rPr>
              <a:t>top-20</a:t>
            </a:r>
            <a:endParaRPr lang="en-US" sz="1100" dirty="0"/>
          </a:p>
        </p:txBody>
      </p:sp>
      <p:sp>
        <p:nvSpPr>
          <p:cNvPr id="9" name="Shape 7"/>
          <p:cNvSpPr/>
          <p:nvPr/>
        </p:nvSpPr>
        <p:spPr>
          <a:xfrm>
            <a:off x="3154680" y="2080260"/>
            <a:ext cx="118872" cy="0"/>
          </a:xfrm>
          <a:prstGeom prst="line">
            <a:avLst/>
          </a:prstGeom>
          <a:noFill/>
          <a:ln w="12700">
            <a:solidFill>
              <a:srgbClr val="5B6275"/>
            </a:solidFill>
            <a:prstDash val="solid"/>
            <a:tailEnd type="triangle"/>
          </a:ln>
        </p:spPr>
      </p:sp>
      <p:sp>
        <p:nvSpPr>
          <p:cNvPr id="10" name="Shape 8"/>
          <p:cNvSpPr/>
          <p:nvPr/>
        </p:nvSpPr>
        <p:spPr>
          <a:xfrm>
            <a:off x="3291840" y="1691640"/>
            <a:ext cx="1216152" cy="777240"/>
          </a:xfrm>
          <a:prstGeom prst="roundRect">
            <a:avLst>
              <a:gd name="adj" fmla="val 7059"/>
            </a:avLst>
          </a:prstGeom>
          <a:solidFill>
            <a:srgbClr val="1F2A5C"/>
          </a:solidFill>
          <a:ln w="12700">
            <a:solidFill>
              <a:srgbClr val="1F2A5C"/>
            </a:solidFill>
            <a:prstDash val="solid"/>
          </a:ln>
        </p:spPr>
      </p:sp>
      <p:sp>
        <p:nvSpPr>
          <p:cNvPr id="11" name="Text 9"/>
          <p:cNvSpPr txBox="1"/>
          <p:nvPr/>
        </p:nvSpPr>
        <p:spPr>
          <a:xfrm>
            <a:off x="3291840" y="1691640"/>
            <a:ext cx="1216152" cy="777240"/>
          </a:xfrm>
          <a:prstGeom prst="rect">
            <a:avLst/>
          </a:prstGeom>
          <a:noFill/>
          <a:ln/>
        </p:spPr>
        <p:txBody>
          <a:bodyPr wrap="square" lIns="0" tIns="0" rIns="0" bIns="0" rtlCol="0" anchor="ctr"/>
          <a:lstStyle/>
          <a:p>
            <a:pPr algn="ctr" indent="0" marL="0">
              <a:buNone/>
            </a:pPr>
            <a:r>
              <a:rPr lang="en-US" sz="1100" b="1" dirty="0">
                <a:solidFill>
                  <a:srgbClr val="FFFFFF"/>
                </a:solidFill>
              </a:rPr>
              <a:t>BM25 + RRF</a:t>
            </a:r>
            <a:endParaRPr lang="en-US" sz="1100" dirty="0"/>
          </a:p>
          <a:p>
            <a:pPr algn="ctr" indent="0" marL="0">
              <a:buNone/>
            </a:pPr>
            <a:r>
              <a:rPr lang="en-US" sz="1100" b="1" dirty="0">
                <a:solidFill>
                  <a:srgbClr val="FFFFFF"/>
                </a:solidFill>
              </a:rPr>
              <a:t>k = 60</a:t>
            </a:r>
            <a:endParaRPr lang="en-US" sz="1100" dirty="0"/>
          </a:p>
        </p:txBody>
      </p:sp>
      <p:sp>
        <p:nvSpPr>
          <p:cNvPr id="12" name="Shape 10"/>
          <p:cNvSpPr/>
          <p:nvPr/>
        </p:nvSpPr>
        <p:spPr>
          <a:xfrm>
            <a:off x="4526280" y="2080260"/>
            <a:ext cx="118872" cy="0"/>
          </a:xfrm>
          <a:prstGeom prst="line">
            <a:avLst/>
          </a:prstGeom>
          <a:noFill/>
          <a:ln w="12700">
            <a:solidFill>
              <a:srgbClr val="5B6275"/>
            </a:solidFill>
            <a:prstDash val="solid"/>
            <a:tailEnd type="triangle"/>
          </a:ln>
        </p:spPr>
      </p:sp>
      <p:sp>
        <p:nvSpPr>
          <p:cNvPr id="13" name="Shape 11"/>
          <p:cNvSpPr/>
          <p:nvPr/>
        </p:nvSpPr>
        <p:spPr>
          <a:xfrm>
            <a:off x="4663440" y="1691640"/>
            <a:ext cx="1216152" cy="777240"/>
          </a:xfrm>
          <a:prstGeom prst="roundRect">
            <a:avLst>
              <a:gd name="adj" fmla="val 7059"/>
            </a:avLst>
          </a:prstGeom>
          <a:solidFill>
            <a:srgbClr val="1F2A5C"/>
          </a:solidFill>
          <a:ln w="12700">
            <a:solidFill>
              <a:srgbClr val="1F2A5C"/>
            </a:solidFill>
            <a:prstDash val="solid"/>
          </a:ln>
        </p:spPr>
      </p:sp>
      <p:sp>
        <p:nvSpPr>
          <p:cNvPr id="14" name="Text 12"/>
          <p:cNvSpPr txBox="1"/>
          <p:nvPr/>
        </p:nvSpPr>
        <p:spPr>
          <a:xfrm>
            <a:off x="4663440" y="1691640"/>
            <a:ext cx="1216152" cy="777240"/>
          </a:xfrm>
          <a:prstGeom prst="rect">
            <a:avLst/>
          </a:prstGeom>
          <a:noFill/>
          <a:ln/>
        </p:spPr>
        <p:txBody>
          <a:bodyPr wrap="square" lIns="0" tIns="0" rIns="0" bIns="0" rtlCol="0" anchor="ctr"/>
          <a:lstStyle/>
          <a:p>
            <a:pPr algn="ctr" indent="0" marL="0">
              <a:buNone/>
            </a:pPr>
            <a:r>
              <a:rPr lang="en-US" sz="1100" b="1" dirty="0">
                <a:solidFill>
                  <a:srgbClr val="FFFFFF"/>
                </a:solidFill>
              </a:rPr>
              <a:t>Cross-Encoder</a:t>
            </a:r>
            <a:endParaRPr lang="en-US" sz="1100" dirty="0"/>
          </a:p>
          <a:p>
            <a:pPr algn="ctr" indent="0" marL="0">
              <a:buNone/>
            </a:pPr>
            <a:r>
              <a:rPr lang="en-US" sz="1100" b="1" dirty="0">
                <a:solidFill>
                  <a:srgbClr val="FFFFFF"/>
                </a:solidFill>
              </a:rPr>
              <a:t>mMARCO</a:t>
            </a:r>
            <a:endParaRPr lang="en-US" sz="1100" dirty="0"/>
          </a:p>
        </p:txBody>
      </p:sp>
      <p:sp>
        <p:nvSpPr>
          <p:cNvPr id="15" name="Shape 13"/>
          <p:cNvSpPr/>
          <p:nvPr/>
        </p:nvSpPr>
        <p:spPr>
          <a:xfrm>
            <a:off x="5897880" y="2080260"/>
            <a:ext cx="118872" cy="0"/>
          </a:xfrm>
          <a:prstGeom prst="line">
            <a:avLst/>
          </a:prstGeom>
          <a:noFill/>
          <a:ln w="12700">
            <a:solidFill>
              <a:srgbClr val="5B6275"/>
            </a:solidFill>
            <a:prstDash val="solid"/>
            <a:tailEnd type="triangle"/>
          </a:ln>
        </p:spPr>
      </p:sp>
      <p:sp>
        <p:nvSpPr>
          <p:cNvPr id="16" name="Shape 14"/>
          <p:cNvSpPr/>
          <p:nvPr/>
        </p:nvSpPr>
        <p:spPr>
          <a:xfrm>
            <a:off x="6035040" y="1691640"/>
            <a:ext cx="1216152" cy="777240"/>
          </a:xfrm>
          <a:prstGeom prst="roundRect">
            <a:avLst>
              <a:gd name="adj" fmla="val 7059"/>
            </a:avLst>
          </a:prstGeom>
          <a:solidFill>
            <a:srgbClr val="F1F3F9"/>
          </a:solidFill>
          <a:ln w="12700">
            <a:solidFill>
              <a:srgbClr val="D5DAE8"/>
            </a:solidFill>
            <a:prstDash val="solid"/>
          </a:ln>
        </p:spPr>
      </p:sp>
      <p:sp>
        <p:nvSpPr>
          <p:cNvPr id="17" name="Text 15"/>
          <p:cNvSpPr txBox="1"/>
          <p:nvPr/>
        </p:nvSpPr>
        <p:spPr>
          <a:xfrm>
            <a:off x="6035040" y="1691640"/>
            <a:ext cx="1216152" cy="777240"/>
          </a:xfrm>
          <a:prstGeom prst="rect">
            <a:avLst/>
          </a:prstGeom>
          <a:noFill/>
          <a:ln/>
        </p:spPr>
        <p:txBody>
          <a:bodyPr wrap="square" lIns="0" tIns="0" rIns="0" bIns="0" rtlCol="0" anchor="ctr"/>
          <a:lstStyle/>
          <a:p>
            <a:pPr algn="ctr" indent="0" marL="0">
              <a:buNone/>
            </a:pPr>
            <a:r>
              <a:rPr lang="en-US" sz="1100" dirty="0">
                <a:solidFill>
                  <a:srgbClr val="1E2235"/>
                </a:solidFill>
              </a:rPr>
              <a:t>top-3</a:t>
            </a:r>
            <a:endParaRPr lang="en-US" sz="1100" dirty="0"/>
          </a:p>
          <a:p>
            <a:pPr algn="ctr" indent="0" marL="0">
              <a:buNone/>
            </a:pPr>
            <a:r>
              <a:rPr lang="en-US" sz="1100" dirty="0">
                <a:solidFill>
                  <a:srgbClr val="1E2235"/>
                </a:solidFill>
              </a:rPr>
              <a:t>EVIDENCIA</a:t>
            </a:r>
            <a:endParaRPr lang="en-US" sz="1100" dirty="0"/>
          </a:p>
        </p:txBody>
      </p:sp>
      <p:sp>
        <p:nvSpPr>
          <p:cNvPr id="18" name="Shape 16"/>
          <p:cNvSpPr/>
          <p:nvPr/>
        </p:nvSpPr>
        <p:spPr>
          <a:xfrm>
            <a:off x="7269480" y="2080260"/>
            <a:ext cx="118872" cy="0"/>
          </a:xfrm>
          <a:prstGeom prst="line">
            <a:avLst/>
          </a:prstGeom>
          <a:noFill/>
          <a:ln w="12700">
            <a:solidFill>
              <a:srgbClr val="5B6275"/>
            </a:solidFill>
            <a:prstDash val="solid"/>
            <a:tailEnd type="triangle"/>
          </a:ln>
        </p:spPr>
      </p:sp>
      <p:sp>
        <p:nvSpPr>
          <p:cNvPr id="19" name="Shape 17"/>
          <p:cNvSpPr/>
          <p:nvPr/>
        </p:nvSpPr>
        <p:spPr>
          <a:xfrm>
            <a:off x="7406640" y="1691640"/>
            <a:ext cx="1216152" cy="777240"/>
          </a:xfrm>
          <a:prstGeom prst="roundRect">
            <a:avLst>
              <a:gd name="adj" fmla="val 7059"/>
            </a:avLst>
          </a:prstGeom>
          <a:solidFill>
            <a:srgbClr val="1F2A5C"/>
          </a:solidFill>
          <a:ln w="12700">
            <a:solidFill>
              <a:srgbClr val="1F2A5C"/>
            </a:solidFill>
            <a:prstDash val="solid"/>
          </a:ln>
        </p:spPr>
      </p:sp>
      <p:sp>
        <p:nvSpPr>
          <p:cNvPr id="20" name="Text 18"/>
          <p:cNvSpPr txBox="1"/>
          <p:nvPr/>
        </p:nvSpPr>
        <p:spPr>
          <a:xfrm>
            <a:off x="7406640" y="1691640"/>
            <a:ext cx="1216152" cy="777240"/>
          </a:xfrm>
          <a:prstGeom prst="rect">
            <a:avLst/>
          </a:prstGeom>
          <a:noFill/>
          <a:ln/>
        </p:spPr>
        <p:txBody>
          <a:bodyPr wrap="square" lIns="0" tIns="0" rIns="0" bIns="0" rtlCol="0" anchor="ctr"/>
          <a:lstStyle/>
          <a:p>
            <a:pPr algn="ctr" indent="0" marL="0">
              <a:buNone/>
            </a:pPr>
            <a:r>
              <a:rPr lang="en-US" sz="1100" b="1" dirty="0">
                <a:solidFill>
                  <a:srgbClr val="FFFFFF"/>
                </a:solidFill>
              </a:rPr>
              <a:t>Qwen2.5-0.5B</a:t>
            </a:r>
            <a:endParaRPr lang="en-US" sz="1100" dirty="0"/>
          </a:p>
          <a:p>
            <a:pPr algn="ctr" indent="0" marL="0">
              <a:buNone/>
            </a:pPr>
            <a:r>
              <a:rPr lang="en-US" sz="1100" b="1" dirty="0">
                <a:solidFill>
                  <a:srgbClr val="FFFFFF"/>
                </a:solidFill>
              </a:rPr>
              <a:t>greedy</a:t>
            </a:r>
            <a:endParaRPr lang="en-US" sz="1100" dirty="0"/>
          </a:p>
        </p:txBody>
      </p:sp>
      <p:sp>
        <p:nvSpPr>
          <p:cNvPr id="21" name="Shape 19"/>
          <p:cNvSpPr/>
          <p:nvPr/>
        </p:nvSpPr>
        <p:spPr>
          <a:xfrm>
            <a:off x="8641080" y="2080260"/>
            <a:ext cx="118872" cy="0"/>
          </a:xfrm>
          <a:prstGeom prst="line">
            <a:avLst/>
          </a:prstGeom>
          <a:noFill/>
          <a:ln w="12700">
            <a:solidFill>
              <a:srgbClr val="5B6275"/>
            </a:solidFill>
            <a:prstDash val="solid"/>
            <a:tailEnd type="triangle"/>
          </a:ln>
        </p:spPr>
      </p:sp>
      <p:sp>
        <p:nvSpPr>
          <p:cNvPr id="22" name="Shape 20"/>
          <p:cNvSpPr/>
          <p:nvPr/>
        </p:nvSpPr>
        <p:spPr>
          <a:xfrm>
            <a:off x="8778240" y="1691640"/>
            <a:ext cx="1216152" cy="777240"/>
          </a:xfrm>
          <a:prstGeom prst="roundRect">
            <a:avLst>
              <a:gd name="adj" fmla="val 7059"/>
            </a:avLst>
          </a:prstGeom>
          <a:solidFill>
            <a:srgbClr val="F1F3F9"/>
          </a:solidFill>
          <a:ln w="12700">
            <a:solidFill>
              <a:srgbClr val="D5DAE8"/>
            </a:solidFill>
            <a:prstDash val="solid"/>
          </a:ln>
        </p:spPr>
      </p:sp>
      <p:sp>
        <p:nvSpPr>
          <p:cNvPr id="23" name="Text 21"/>
          <p:cNvSpPr txBox="1"/>
          <p:nvPr/>
        </p:nvSpPr>
        <p:spPr>
          <a:xfrm>
            <a:off x="8778240" y="1691640"/>
            <a:ext cx="1216152" cy="777240"/>
          </a:xfrm>
          <a:prstGeom prst="rect">
            <a:avLst/>
          </a:prstGeom>
          <a:noFill/>
          <a:ln/>
        </p:spPr>
        <p:txBody>
          <a:bodyPr wrap="square" lIns="0" tIns="0" rIns="0" bIns="0" rtlCol="0" anchor="ctr"/>
          <a:lstStyle/>
          <a:p>
            <a:pPr algn="ctr" indent="0" marL="0">
              <a:buNone/>
            </a:pPr>
            <a:r>
              <a:rPr lang="en-US" sz="1100" dirty="0">
                <a:solidFill>
                  <a:srgbClr val="1E2235"/>
                </a:solidFill>
              </a:rPr>
              <a:t>JSON Schema</a:t>
            </a:r>
            <a:endParaRPr lang="en-US" sz="1100" dirty="0"/>
          </a:p>
          <a:p>
            <a:pPr algn="ctr" indent="0" marL="0">
              <a:buNone/>
            </a:pPr>
            <a:r>
              <a:rPr lang="en-US" sz="1100" dirty="0">
                <a:solidFill>
                  <a:srgbClr val="1E2235"/>
                </a:solidFill>
              </a:rPr>
              <a:t>citas en contexto</a:t>
            </a:r>
            <a:endParaRPr lang="en-US" sz="1100" dirty="0"/>
          </a:p>
        </p:txBody>
      </p:sp>
      <p:sp>
        <p:nvSpPr>
          <p:cNvPr id="24" name="Shape 22"/>
          <p:cNvSpPr/>
          <p:nvPr/>
        </p:nvSpPr>
        <p:spPr>
          <a:xfrm>
            <a:off x="10012680" y="2080260"/>
            <a:ext cx="118872" cy="0"/>
          </a:xfrm>
          <a:prstGeom prst="line">
            <a:avLst/>
          </a:prstGeom>
          <a:noFill/>
          <a:ln w="12700">
            <a:solidFill>
              <a:srgbClr val="5B6275"/>
            </a:solidFill>
            <a:prstDash val="solid"/>
            <a:tailEnd type="triangle"/>
          </a:ln>
        </p:spPr>
      </p:sp>
      <p:sp>
        <p:nvSpPr>
          <p:cNvPr id="25" name="Shape 23"/>
          <p:cNvSpPr/>
          <p:nvPr/>
        </p:nvSpPr>
        <p:spPr>
          <a:xfrm>
            <a:off x="10149840" y="1691640"/>
            <a:ext cx="1216152" cy="777240"/>
          </a:xfrm>
          <a:prstGeom prst="roundRect">
            <a:avLst>
              <a:gd name="adj" fmla="val 7059"/>
            </a:avLst>
          </a:prstGeom>
          <a:solidFill>
            <a:srgbClr val="F1F3F9"/>
          </a:solidFill>
          <a:ln w="12700">
            <a:solidFill>
              <a:srgbClr val="D5DAE8"/>
            </a:solidFill>
            <a:prstDash val="solid"/>
          </a:ln>
        </p:spPr>
      </p:sp>
      <p:sp>
        <p:nvSpPr>
          <p:cNvPr id="26" name="Text 24"/>
          <p:cNvSpPr txBox="1"/>
          <p:nvPr/>
        </p:nvSpPr>
        <p:spPr>
          <a:xfrm>
            <a:off x="10149840" y="1691640"/>
            <a:ext cx="1216152" cy="777240"/>
          </a:xfrm>
          <a:prstGeom prst="rect">
            <a:avLst/>
          </a:prstGeom>
          <a:noFill/>
          <a:ln/>
        </p:spPr>
        <p:txBody>
          <a:bodyPr wrap="square" lIns="0" tIns="0" rIns="0" bIns="0" rtlCol="0" anchor="ctr"/>
          <a:lstStyle/>
          <a:p>
            <a:pPr algn="ctr" indent="0" marL="0">
              <a:buNone/>
            </a:pPr>
            <a:r>
              <a:rPr lang="en-US" sz="1100" dirty="0">
                <a:solidFill>
                  <a:srgbClr val="1E2235"/>
                </a:solidFill>
              </a:rPr>
              <a:t>Auditoría</a:t>
            </a:r>
            <a:endParaRPr lang="en-US" sz="1100" dirty="0"/>
          </a:p>
          <a:p>
            <a:pPr algn="ctr" indent="0" marL="0">
              <a:buNone/>
            </a:pPr>
            <a:r>
              <a:rPr lang="en-US" sz="1100" dirty="0">
                <a:solidFill>
                  <a:srgbClr val="1E2235"/>
                </a:solidFill>
              </a:rPr>
              <a:t>manual</a:t>
            </a:r>
            <a:endParaRPr lang="en-US" sz="1100" dirty="0"/>
          </a:p>
        </p:txBody>
      </p:sp>
      <p:sp>
        <p:nvSpPr>
          <p:cNvPr id="27" name="Shape 25"/>
          <p:cNvSpPr/>
          <p:nvPr/>
        </p:nvSpPr>
        <p:spPr>
          <a:xfrm>
            <a:off x="1920240" y="2606040"/>
            <a:ext cx="3959352" cy="0"/>
          </a:xfrm>
          <a:prstGeom prst="line">
            <a:avLst/>
          </a:prstGeom>
          <a:noFill/>
          <a:ln w="19050">
            <a:solidFill>
              <a:srgbClr val="5A6DB8"/>
            </a:solidFill>
            <a:prstDash val="solid"/>
          </a:ln>
        </p:spPr>
      </p:sp>
      <p:sp>
        <p:nvSpPr>
          <p:cNvPr id="28" name="Text 26"/>
          <p:cNvSpPr txBox="1"/>
          <p:nvPr/>
        </p:nvSpPr>
        <p:spPr>
          <a:xfrm>
            <a:off x="1920240" y="2651760"/>
            <a:ext cx="3959352" cy="274320"/>
          </a:xfrm>
          <a:prstGeom prst="rect">
            <a:avLst/>
          </a:prstGeom>
          <a:noFill/>
          <a:ln/>
        </p:spPr>
        <p:txBody>
          <a:bodyPr wrap="square" lIns="0" tIns="0" rIns="0" bIns="0" rtlCol="0" anchor="t"/>
          <a:lstStyle/>
          <a:p>
            <a:pPr algn="ctr" indent="0" marL="0">
              <a:buNone/>
            </a:pPr>
            <a:r>
              <a:rPr lang="en-US" sz="1100" b="1" dirty="0">
                <a:solidFill>
                  <a:srgbClr val="5A6DB8"/>
                </a:solidFill>
              </a:rPr>
              <a:t>Experimento 1: condiciones A, B y C</a:t>
            </a:r>
            <a:endParaRPr lang="en-US" sz="1100" dirty="0"/>
          </a:p>
        </p:txBody>
      </p:sp>
      <p:sp>
        <p:nvSpPr>
          <p:cNvPr id="29" name="Shape 27"/>
          <p:cNvSpPr/>
          <p:nvPr/>
        </p:nvSpPr>
        <p:spPr>
          <a:xfrm>
            <a:off x="6035040" y="2606040"/>
            <a:ext cx="5330952" cy="0"/>
          </a:xfrm>
          <a:prstGeom prst="line">
            <a:avLst/>
          </a:prstGeom>
          <a:noFill/>
          <a:ln w="19050">
            <a:solidFill>
              <a:srgbClr val="5A6DB8"/>
            </a:solidFill>
            <a:prstDash val="solid"/>
          </a:ln>
        </p:spPr>
      </p:sp>
      <p:sp>
        <p:nvSpPr>
          <p:cNvPr id="30" name="Text 28"/>
          <p:cNvSpPr txBox="1"/>
          <p:nvPr/>
        </p:nvSpPr>
        <p:spPr>
          <a:xfrm>
            <a:off x="6035040" y="2651760"/>
            <a:ext cx="5330952" cy="274320"/>
          </a:xfrm>
          <a:prstGeom prst="rect">
            <a:avLst/>
          </a:prstGeom>
          <a:noFill/>
          <a:ln/>
        </p:spPr>
        <p:txBody>
          <a:bodyPr wrap="square" lIns="0" tIns="0" rIns="0" bIns="0" rtlCol="0" anchor="t"/>
          <a:lstStyle/>
          <a:p>
            <a:pPr algn="ctr" indent="0" marL="0">
              <a:buNone/>
            </a:pPr>
            <a:r>
              <a:rPr lang="en-US" sz="1100" b="1" dirty="0">
                <a:solidFill>
                  <a:srgbClr val="5A6DB8"/>
                </a:solidFill>
              </a:rPr>
              <a:t>Experimento 2</a:t>
            </a:r>
            <a:endParaRPr lang="en-US" sz="1100" dirty="0"/>
          </a:p>
        </p:txBody>
      </p:sp>
      <p:sp>
        <p:nvSpPr>
          <p:cNvPr id="31" name="Shape 29"/>
          <p:cNvSpPr/>
          <p:nvPr/>
        </p:nvSpPr>
        <p:spPr>
          <a:xfrm>
            <a:off x="548640" y="3154680"/>
            <a:ext cx="3515258" cy="3017520"/>
          </a:xfrm>
          <a:prstGeom prst="roundRect">
            <a:avLst>
              <a:gd name="adj" fmla="val 2424"/>
            </a:avLst>
          </a:prstGeom>
          <a:solidFill>
            <a:srgbClr val="F1F3F9"/>
          </a:solidFill>
          <a:ln w="12700">
            <a:solidFill>
              <a:srgbClr val="F1F3F9"/>
            </a:solidFill>
            <a:prstDash val="solid"/>
          </a:ln>
        </p:spPr>
      </p:sp>
      <p:sp>
        <p:nvSpPr>
          <p:cNvPr id="32" name="Text 30"/>
          <p:cNvSpPr txBox="1"/>
          <p:nvPr/>
        </p:nvSpPr>
        <p:spPr>
          <a:xfrm>
            <a:off x="777240" y="3337560"/>
            <a:ext cx="3058058" cy="320040"/>
          </a:xfrm>
          <a:prstGeom prst="rect">
            <a:avLst/>
          </a:prstGeom>
          <a:noFill/>
          <a:ln/>
        </p:spPr>
        <p:txBody>
          <a:bodyPr wrap="square" lIns="0" tIns="0" rIns="0" bIns="0" rtlCol="0" anchor="t"/>
          <a:lstStyle/>
          <a:p>
            <a:pPr indent="0" marL="0">
              <a:buNone/>
            </a:pPr>
            <a:r>
              <a:rPr lang="en-US" sz="1500" b="1" dirty="0">
                <a:solidFill>
                  <a:srgbClr val="1F2A5C"/>
                </a:solidFill>
              </a:rPr>
              <a:t>Corpus</a:t>
            </a:r>
            <a:endParaRPr lang="en-US" sz="1500" dirty="0"/>
          </a:p>
        </p:txBody>
      </p:sp>
      <p:sp>
        <p:nvSpPr>
          <p:cNvPr id="33" name="Text 31"/>
          <p:cNvSpPr txBox="1"/>
          <p:nvPr/>
        </p:nvSpPr>
        <p:spPr>
          <a:xfrm>
            <a:off x="777240" y="3749040"/>
            <a:ext cx="3058058"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E2235"/>
                </a:solidFill>
              </a:rPr>
              <a:t>Código Civil peruano, 2135 artículos; se indexan los 2115 vigentes</a:t>
            </a:r>
            <a:endParaRPr lang="en-US" sz="1200" dirty="0"/>
          </a:p>
          <a:p>
            <a:pPr marL="177800" indent="-177800">
              <a:spcAft>
                <a:spcPts val="500"/>
              </a:spcAft>
              <a:buSzPct val="100000"/>
              <a:buChar char="•"/>
            </a:pPr>
            <a:r>
              <a:rPr lang="en-US" sz="1200" dirty="0">
                <a:solidFill>
                  <a:srgbClr val="1E2235"/>
                </a:solidFill>
              </a:rPr>
              <a:t>Un artículo por passage (cc_art_183): es la unidad que se cita</a:t>
            </a:r>
            <a:endParaRPr lang="en-US" sz="1200" dirty="0"/>
          </a:p>
          <a:p>
            <a:pPr marL="177800" indent="-177800">
              <a:spcAft>
                <a:spcPts val="500"/>
              </a:spcAft>
              <a:buSzPct val="100000"/>
              <a:buChar char="•"/>
            </a:pPr>
            <a:r>
              <a:rPr lang="en-US" sz="1200" dirty="0">
                <a:solidFill>
                  <a:srgbClr val="1E2235"/>
                </a:solidFill>
              </a:rPr>
              <a:t>Media 43 palabras; 4 artículos pasan de 512 tokens, ninguno relevante</a:t>
            </a:r>
            <a:endParaRPr lang="en-US" sz="1200" dirty="0"/>
          </a:p>
          <a:p>
            <a:pPr marL="177800" indent="-177800">
              <a:spcAft>
                <a:spcPts val="500"/>
              </a:spcAft>
              <a:buSzPct val="100000"/>
              <a:buChar char="•"/>
            </a:pPr>
            <a:r>
              <a:rPr lang="en-US" sz="1200" dirty="0">
                <a:solidFill>
                  <a:srgbClr val="1E2235"/>
                </a:solidFill>
              </a:rPr>
              <a:t>7 artículos con texto dudoso, fuera de los qrels</a:t>
            </a:r>
            <a:endParaRPr lang="en-US" sz="1200" dirty="0"/>
          </a:p>
        </p:txBody>
      </p:sp>
      <p:sp>
        <p:nvSpPr>
          <p:cNvPr id="34" name="Shape 32"/>
          <p:cNvSpPr/>
          <p:nvPr/>
        </p:nvSpPr>
        <p:spPr>
          <a:xfrm>
            <a:off x="4338218" y="3154680"/>
            <a:ext cx="3515258" cy="3017520"/>
          </a:xfrm>
          <a:prstGeom prst="roundRect">
            <a:avLst>
              <a:gd name="adj" fmla="val 2424"/>
            </a:avLst>
          </a:prstGeom>
          <a:solidFill>
            <a:srgbClr val="F1F3F9"/>
          </a:solidFill>
          <a:ln w="12700">
            <a:solidFill>
              <a:srgbClr val="F1F3F9"/>
            </a:solidFill>
            <a:prstDash val="solid"/>
          </a:ln>
        </p:spPr>
      </p:sp>
      <p:sp>
        <p:nvSpPr>
          <p:cNvPr id="35" name="Text 33"/>
          <p:cNvSpPr txBox="1"/>
          <p:nvPr/>
        </p:nvSpPr>
        <p:spPr>
          <a:xfrm>
            <a:off x="4566818" y="3337560"/>
            <a:ext cx="3058058" cy="320040"/>
          </a:xfrm>
          <a:prstGeom prst="rect">
            <a:avLst/>
          </a:prstGeom>
          <a:noFill/>
          <a:ln/>
        </p:spPr>
        <p:txBody>
          <a:bodyPr wrap="square" lIns="0" tIns="0" rIns="0" bIns="0" rtlCol="0" anchor="t"/>
          <a:lstStyle/>
          <a:p>
            <a:pPr indent="0" marL="0">
              <a:buNone/>
            </a:pPr>
            <a:r>
              <a:rPr lang="en-US" sz="1500" b="1" dirty="0">
                <a:solidFill>
                  <a:srgbClr val="1F2A5C"/>
                </a:solidFill>
              </a:rPr>
              <a:t>Consultas y qrels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66818" y="3794760"/>
          <a:ext cx="3058058" cy="914400"/>
        </p:xfrm>
        <a:graphic>
          <a:graphicData uri="http://schemas.openxmlformats.org/drawingml/2006/table">
            <a:tbl>
              <a:tblPr/>
              <a:tblGrid>
                <a:gridCol w="1100901"/>
                <a:gridCol w="428128"/>
                <a:gridCol w="1529029"/>
              </a:tblGrid>
              <a:tr h="292608">
                <a:tc>
                  <a:txBody>
                    <a:bodyPr/>
                    <a:lstStyle/>
                    <a:p>
                      <a:pPr algn="ctr" indent="0" marL="0">
                        <a:buNone/>
                      </a:pPr>
                      <a:r>
                        <a:rPr lang="en-US" sz="1100" b="1" dirty="0">
                          <a:solidFill>
                            <a:srgbClr val="FFFFFF"/>
                          </a:solidFill>
                        </a:rPr>
                        <a:t>Tipo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Prueba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292608">
                <a:tc>
                  <a:txBody>
                    <a:bodyPr/>
                    <a:lstStyle/>
                    <a:p>
                      <a:pPr indent="0" marL="0">
                        <a:buNone/>
                      </a:pPr>
                      <a:r>
                        <a:rPr lang="en-US" sz="1100" dirty="0">
                          <a:solidFill>
                            <a:srgbClr val="1E2235"/>
                          </a:solidFill>
                        </a:rPr>
                        <a:t>directa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vocabulario del Código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E2235"/>
                          </a:solidFill>
                        </a:rPr>
                        <a:t>parafraseada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lenguaje cotidiano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292608">
                <a:tc>
                  <a:txBody>
                    <a:bodyPr/>
                    <a:lstStyle/>
                    <a:p>
                      <a:pPr indent="0" marL="0">
                        <a:buNone/>
                      </a:pPr>
                      <a:r>
                        <a:rPr lang="en-US" sz="1100" dirty="0">
                          <a:solidFill>
                            <a:srgbClr val="1E2235"/>
                          </a:solidFill>
                        </a:rPr>
                        <a:t>contradicción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regla y excepción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37" name="Text 34"/>
          <p:cNvSpPr txBox="1"/>
          <p:nvPr/>
        </p:nvSpPr>
        <p:spPr>
          <a:xfrm>
            <a:off x="4566818" y="5166360"/>
            <a:ext cx="3058058" cy="822960"/>
          </a:xfrm>
          <a:prstGeom prst="rect">
            <a:avLst/>
          </a:prstGeom>
          <a:noFill/>
          <a:ln/>
        </p:spPr>
        <p:txBody>
          <a:bodyPr wrap="square" lIns="0" tIns="0" rIns="0" bIns="0" rtlCol="0" anchor="t"/>
          <a:lstStyle/>
          <a:p>
            <a:pPr indent="0" marL="0">
              <a:buNone/>
            </a:pPr>
            <a:r>
              <a:rPr lang="en-US" sz="1200" dirty="0">
                <a:solidFill>
                  <a:srgbClr val="5B6275"/>
                </a:solidFill>
              </a:rPr>
              <a:t>31 pares relevantes con el inciso que los justifica, fijados antes de ejecutar. Ejemplo C05: arts. 183 y 2007.</a:t>
            </a:r>
            <a:endParaRPr lang="en-US" sz="1200" dirty="0"/>
          </a:p>
        </p:txBody>
      </p:sp>
      <p:sp>
        <p:nvSpPr>
          <p:cNvPr id="38" name="Shape 35"/>
          <p:cNvSpPr/>
          <p:nvPr/>
        </p:nvSpPr>
        <p:spPr>
          <a:xfrm>
            <a:off x="8127797" y="3154680"/>
            <a:ext cx="3515258" cy="3017520"/>
          </a:xfrm>
          <a:prstGeom prst="roundRect">
            <a:avLst>
              <a:gd name="adj" fmla="val 2424"/>
            </a:avLst>
          </a:prstGeom>
          <a:solidFill>
            <a:srgbClr val="F1F3F9"/>
          </a:solidFill>
          <a:ln w="12700">
            <a:solidFill>
              <a:srgbClr val="F1F3F9"/>
            </a:solidFill>
            <a:prstDash val="solid"/>
          </a:ln>
        </p:spPr>
      </p:sp>
      <p:sp>
        <p:nvSpPr>
          <p:cNvPr id="39" name="Text 36"/>
          <p:cNvSpPr txBox="1"/>
          <p:nvPr/>
        </p:nvSpPr>
        <p:spPr>
          <a:xfrm>
            <a:off x="8356397" y="3337560"/>
            <a:ext cx="3058058" cy="320040"/>
          </a:xfrm>
          <a:prstGeom prst="rect">
            <a:avLst/>
          </a:prstGeom>
          <a:noFill/>
          <a:ln/>
        </p:spPr>
        <p:txBody>
          <a:bodyPr wrap="square" lIns="0" tIns="0" rIns="0" bIns="0" rtlCol="0" anchor="t"/>
          <a:lstStyle/>
          <a:p>
            <a:pPr indent="0" marL="0">
              <a:buNone/>
            </a:pPr>
            <a:r>
              <a:rPr lang="en-US" sz="1500" b="1" dirty="0">
                <a:solidFill>
                  <a:srgbClr val="1F2A5C"/>
                </a:solidFill>
              </a:rPr>
              <a:t>Herramienta (sin LLM)</a:t>
            </a:r>
            <a:endParaRPr lang="en-US" sz="1500" dirty="0"/>
          </a:p>
        </p:txBody>
      </p:sp>
      <p:sp>
        <p:nvSpPr>
          <p:cNvPr id="40" name="Text 37"/>
          <p:cNvSpPr txBox="1"/>
          <p:nvPr/>
        </p:nvSpPr>
        <p:spPr>
          <a:xfrm>
            <a:off x="8356397" y="3749040"/>
            <a:ext cx="3058058" cy="23774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E2235"/>
                </a:solidFill>
              </a:rPr>
              <a:t>plazos.computar_vencimiento: arts. 183 y 2007</a:t>
            </a:r>
            <a:endParaRPr lang="en-US" sz="1200" dirty="0"/>
          </a:p>
          <a:p>
            <a:pPr marL="177800" indent="-177800">
              <a:spcAft>
                <a:spcPts val="500"/>
              </a:spcAft>
              <a:buSzPct val="100000"/>
              <a:buChar char="•"/>
            </a:pPr>
            <a:r>
              <a:rPr lang="en-US" sz="1200" dirty="0">
                <a:solidFill>
                  <a:srgbClr val="1E2235"/>
                </a:solidFill>
              </a:rPr>
              <a:t>Contrato de entrada, dominio, salida</a:t>
            </a:r>
            <a:endParaRPr lang="en-US" sz="1200" dirty="0"/>
          </a:p>
          <a:p>
            <a:pPr marL="177800" indent="-177800">
              <a:spcAft>
                <a:spcPts val="500"/>
              </a:spcAft>
              <a:buSzPct val="100000"/>
              <a:buChar char="•"/>
            </a:pPr>
            <a:r>
              <a:rPr lang="en-US" sz="1200" dirty="0">
                <a:solidFill>
                  <a:srgbClr val="1E2235"/>
                </a:solidFill>
              </a:rPr>
              <a:t>ToolResult o ToolError con kind y retryable</a:t>
            </a:r>
            <a:endParaRPr lang="en-US" sz="1200" dirty="0"/>
          </a:p>
          <a:p>
            <a:pPr marL="177800" indent="-177800">
              <a:spcAft>
                <a:spcPts val="500"/>
              </a:spcAft>
              <a:buSzPct val="100000"/>
              <a:buChar char="•"/>
            </a:pPr>
            <a:r>
              <a:rPr lang="en-US" sz="1200" dirty="0">
                <a:solidFill>
                  <a:srgbClr val="1E2235"/>
                </a:solidFill>
              </a:rPr>
              <a:t>Calendario 2026 con 16 feriados nacionales</a:t>
            </a:r>
            <a:endParaRPr lang="en-US" sz="120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TRAZABILIDAD</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Cada semana deja una evidencia en el repositorio</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02920"/>
                <a:gridCol w="2011680"/>
                <a:gridCol w="1965960"/>
                <a:gridCol w="4343400"/>
                <a:gridCol w="2270455"/>
              </a:tblGrid>
              <a:tr h="566928">
                <a:tc>
                  <a:txBody>
                    <a:bodyPr/>
                    <a:lstStyle/>
                    <a:p>
                      <a:pPr algn="ctr" indent="0" marL="0">
                        <a:buNone/>
                      </a:pPr>
                      <a:r>
                        <a:rPr lang="en-US" sz="1100" b="1" dirty="0">
                          <a:solidFill>
                            <a:srgbClr val="FFFFFF"/>
                          </a:solidFill>
                        </a:rPr>
                        <a:t>Sem.</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Recurso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Concepto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Evidencia verificable</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Conclusión propia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566928">
                <a:tc>
                  <a:txBody>
                    <a:bodyPr/>
                    <a:lstStyle/>
                    <a:p>
                      <a:pPr algn="ctr" indent="0" marL="0">
                        <a:buNone/>
                      </a:pPr>
                      <a:r>
                        <a:rPr lang="en-US" sz="1100" b="1" dirty="0">
                          <a:solidFill>
                            <a:srgbClr val="1F2A5C"/>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1, Lectura 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tokens, Q/K/V, máscara causal</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Qwen: 24 capas, 14 cabezas Q y 2 KV; "caducidad" = cad + uc + idad</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Evidencia antes de la pregunta en el prompt</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2, Laboratorio 2, Lectura 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logits, softmax, greedy</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P(primer token {") 0.921 sin evidencia y 0.763 con evidencia; 179 frente a 602 tokens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El costo del RAG está en el prefill</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JSON Schema, validación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Schema 8/12 closed-book y 12/12 RAG</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Válido no significa correcto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4</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4, Laboratorio 4</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E5, coseno, FAISS, qrels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Score FAISS = coseno a mano (0.9346); A: Recall@3 0.658</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Línea base de la PC2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5, Lectura 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BM25, RRF, Cross-Encoder</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C13: BM25 sube los arts. 2081 y 2082 y el 333 cae al puesto 13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La fusión trae distractores léxicos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6</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6, Lectura 6</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contratos, retry, timeout</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13/13 casos; H09 se recupera en el intento 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Solo se reintenta lo transitorio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566928">
                <a:tc>
                  <a:txBody>
                    <a:bodyPr/>
                    <a:lstStyle/>
                    <a:p>
                      <a:pPr algn="ctr" indent="0" marL="0">
                        <a:buNone/>
                      </a:pPr>
                      <a:r>
                        <a:rPr lang="en-US" sz="1100" b="1" dirty="0">
                          <a:solidFill>
                            <a:srgbClr val="1F2A5C"/>
                          </a:solidFill>
                        </a:rPr>
                        <a:t>7</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Cuaderno 7, Lectura 7</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MRR, nDCG, bootstrap, faithfulness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 - B nDCG@5 +0.084 [0.001, 0.179]; faithfulness RAG 0.25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2E3C7A"/>
                          </a:solidFill>
                        </a:rPr>
                        <a:t>Mejor ranking no es mejor respuesta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EXPERIMENTO 1</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BM25 + RRF no mejora; el reranker ordena mejor, pero cuesta 3 s</a:t>
            </a:r>
            <a:endParaRPr lang="en-US" sz="3000" dirty="0"/>
          </a:p>
        </p:txBody>
      </p:sp>
      <p:sp>
        <p:nvSpPr>
          <p:cNvPr id="4" name="Shape 2"/>
          <p:cNvSpPr/>
          <p:nvPr/>
        </p:nvSpPr>
        <p:spPr>
          <a:xfrm>
            <a:off x="548640" y="1645920"/>
            <a:ext cx="5852160" cy="3063240"/>
          </a:xfrm>
          <a:prstGeom prst="roundRect">
            <a:avLst>
              <a:gd name="adj" fmla="val 2388"/>
            </a:avLst>
          </a:prstGeom>
          <a:solidFill>
            <a:srgbClr val="F1F3F9"/>
          </a:solidFill>
          <a:ln w="12700">
            <a:solidFill>
              <a:srgbClr val="F1F3F9"/>
            </a:solidFill>
            <a:prstDash val="solid"/>
          </a:ln>
        </p:spPr>
      </p:sp>
      <p:sp>
        <p:nvSpPr>
          <p:cNvPr id="5" name="Text 3"/>
          <p:cNvSpPr txBox="1"/>
          <p:nvPr/>
        </p:nvSpPr>
        <p:spPr>
          <a:xfrm>
            <a:off x="777240" y="1764792"/>
            <a:ext cx="5394960" cy="320040"/>
          </a:xfrm>
          <a:prstGeom prst="rect">
            <a:avLst/>
          </a:prstGeom>
          <a:noFill/>
          <a:ln/>
        </p:spPr>
        <p:txBody>
          <a:bodyPr wrap="square" lIns="0" tIns="0" rIns="0" bIns="0" rtlCol="0" anchor="t"/>
          <a:lstStyle/>
          <a:p>
            <a:pPr indent="0" marL="0">
              <a:buNone/>
            </a:pPr>
            <a:r>
              <a:rPr lang="en-US" sz="1400" b="1" dirty="0">
                <a:solidFill>
                  <a:srgbClr val="1F2A5C"/>
                </a:solidFill>
              </a:rPr>
              <a:t>Métricas por condición (20 consultas)</a:t>
            </a:r>
            <a:endParaRPr lang="en-US" sz="1400" dirty="0"/>
          </a:p>
        </p:txBody>
      </p:sp>
      <p:graphicFrame>
        <p:nvGraphicFramePr>
          <p:cNvPr id="6" name="Chart 0" descr=""/>
          <p:cNvGraphicFramePr/>
          <p:nvPr/>
        </p:nvGraphicFramePr>
        <p:xfrm>
          <a:off x="685800" y="2103120"/>
          <a:ext cx="5577840" cy="25603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75120" y="1645920"/>
            <a:ext cx="4967935" cy="3063240"/>
          </a:xfrm>
          <a:prstGeom prst="roundRect">
            <a:avLst>
              <a:gd name="adj" fmla="val 2388"/>
            </a:avLst>
          </a:prstGeom>
          <a:solidFill>
            <a:srgbClr val="F1F3F9"/>
          </a:solidFill>
          <a:ln w="12700">
            <a:solidFill>
              <a:srgbClr val="F1F3F9"/>
            </a:solidFill>
            <a:prstDash val="solid"/>
          </a:ln>
        </p:spPr>
      </p:sp>
      <p:sp>
        <p:nvSpPr>
          <p:cNvPr id="8" name="Text 5"/>
          <p:cNvSpPr txBox="1"/>
          <p:nvPr/>
        </p:nvSpPr>
        <p:spPr>
          <a:xfrm>
            <a:off x="6903720" y="1764792"/>
            <a:ext cx="4510735" cy="320040"/>
          </a:xfrm>
          <a:prstGeom prst="rect">
            <a:avLst/>
          </a:prstGeom>
          <a:noFill/>
          <a:ln/>
        </p:spPr>
        <p:txBody>
          <a:bodyPr wrap="square" lIns="0" tIns="0" rIns="0" bIns="0" rtlCol="0" anchor="t"/>
          <a:lstStyle/>
          <a:p>
            <a:pPr indent="0" marL="0">
              <a:buNone/>
            </a:pPr>
            <a:r>
              <a:rPr lang="en-US" sz="1400" b="1" dirty="0">
                <a:solidFill>
                  <a:srgbClr val="1F2A5C"/>
                </a:solidFill>
              </a:rPr>
              <a:t>Bootstrap pareado y latencia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903720" y="2194560"/>
          <a:ext cx="4510735" cy="914400"/>
        </p:xfrm>
        <a:graphic>
          <a:graphicData uri="http://schemas.openxmlformats.org/drawingml/2006/table">
            <a:tbl>
              <a:tblPr/>
              <a:tblGrid>
                <a:gridCol w="1894509"/>
                <a:gridCol w="902147"/>
                <a:gridCol w="1714079"/>
              </a:tblGrid>
              <a:tr h="283464">
                <a:tc>
                  <a:txBody>
                    <a:bodyPr/>
                    <a:lstStyle/>
                    <a:p>
                      <a:pPr algn="ctr" indent="0" marL="0">
                        <a:buNone/>
                      </a:pPr>
                      <a:r>
                        <a:rPr lang="en-US" sz="1100" b="1" dirty="0">
                          <a:solidFill>
                            <a:srgbClr val="FFFFFF"/>
                          </a:solidFill>
                        </a:rPr>
                        <a:t>Diferencia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Media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IC 95 %</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283464">
                <a:tc>
                  <a:txBody>
                    <a:bodyPr/>
                    <a:lstStyle/>
                    <a:p>
                      <a:pPr indent="0" marL="0">
                        <a:buNone/>
                      </a:pPr>
                      <a:r>
                        <a:rPr lang="en-US" sz="1100" dirty="0">
                          <a:solidFill>
                            <a:srgbClr val="1E2235"/>
                          </a:solidFill>
                        </a:rPr>
                        <a:t>B - A  Recall@3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-0.100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[-0.225, 0.000]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E2235"/>
                          </a:solidFill>
                        </a:rPr>
                        <a:t>B - A  nDCG@5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-0.060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[-0.131, 0.009]</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283464">
                <a:tc>
                  <a:txBody>
                    <a:bodyPr/>
                    <a:lstStyle/>
                    <a:p>
                      <a:pPr indent="0" marL="0">
                        <a:buNone/>
                      </a:pPr>
                      <a:r>
                        <a:rPr lang="en-US" sz="1100" dirty="0">
                          <a:solidFill>
                            <a:srgbClr val="1E2235"/>
                          </a:solidFill>
                        </a:rPr>
                        <a:t>C - B  MRR</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+0.121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[-0.007, 0.261]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283464">
                <a:tc>
                  <a:txBody>
                    <a:bodyPr/>
                    <a:lstStyle/>
                    <a:p>
                      <a:pPr indent="0" marL="0">
                        <a:buNone/>
                      </a:pPr>
                      <a:r>
                        <a:rPr lang="en-US" sz="1100" b="1" dirty="0">
                          <a:solidFill>
                            <a:srgbClr val="1E2235"/>
                          </a:solidFill>
                        </a:rPr>
                        <a:t>C - B  nDCG@5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2235"/>
                          </a:solidFill>
                        </a:rPr>
                        <a:t>+0.084</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2235"/>
                          </a:solidFill>
                        </a:rPr>
                        <a:t>[0.001, 0.179]</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903720" y="3749040"/>
            <a:ext cx="4510735" cy="822960"/>
          </a:xfrm>
          <a:prstGeom prst="rect">
            <a:avLst/>
          </a:prstGeom>
          <a:noFill/>
          <a:ln/>
        </p:spPr>
        <p:txBody>
          <a:bodyPr wrap="square" lIns="0" tIns="0" rIns="0" bIns="0" rtlCol="0" anchor="t"/>
          <a:lstStyle/>
          <a:p>
            <a:pPr indent="0" marL="0">
              <a:buNone/>
            </a:pPr>
            <a:r>
              <a:rPr lang="en-US" sz="1200" dirty="0">
                <a:solidFill>
                  <a:srgbClr val="1E2235"/>
                </a:solidFill>
              </a:rPr>
              <a:t>Latencia media: A 60 ms, B 52 ms, C 3123 ms.</a:t>
            </a:r>
            <a:endParaRPr lang="en-US" sz="1200" dirty="0"/>
          </a:p>
          <a:p>
            <a:pPr indent="0" marL="0">
              <a:buNone/>
            </a:pPr>
            <a:r>
              <a:rPr lang="en-US" sz="1200" dirty="0">
                <a:solidFill>
                  <a:srgbClr val="5B6275"/>
                </a:solidFill>
              </a:rPr>
              <a:t>El Cross-Encoder es el 98 % del costo de C.</a:t>
            </a:r>
            <a:endParaRPr lang="en-US" sz="1200" dirty="0"/>
          </a:p>
        </p:txBody>
      </p:sp>
      <p:sp>
        <p:nvSpPr>
          <p:cNvPr id="11" name="Shape 7"/>
          <p:cNvSpPr/>
          <p:nvPr/>
        </p:nvSpPr>
        <p:spPr>
          <a:xfrm>
            <a:off x="548640" y="4892040"/>
            <a:ext cx="11094415" cy="1188720"/>
          </a:xfrm>
          <a:prstGeom prst="roundRect">
            <a:avLst>
              <a:gd name="adj" fmla="val 6154"/>
            </a:avLst>
          </a:prstGeom>
          <a:solidFill>
            <a:srgbClr val="FFFFFF"/>
          </a:solidFill>
          <a:ln w="12700">
            <a:solidFill>
              <a:srgbClr val="D5DAE8"/>
            </a:solidFill>
            <a:prstDash val="solid"/>
          </a:ln>
        </p:spPr>
      </p:sp>
      <p:sp>
        <p:nvSpPr>
          <p:cNvPr id="12" name="Text 8"/>
          <p:cNvSpPr txBox="1"/>
          <p:nvPr/>
        </p:nvSpPr>
        <p:spPr>
          <a:xfrm>
            <a:off x="822960" y="5010912"/>
            <a:ext cx="5486400" cy="292608"/>
          </a:xfrm>
          <a:prstGeom prst="rect">
            <a:avLst/>
          </a:prstGeom>
          <a:noFill/>
          <a:ln/>
        </p:spPr>
        <p:txBody>
          <a:bodyPr wrap="square" lIns="0" tIns="0" rIns="0" bIns="0" rtlCol="0" anchor="t"/>
          <a:lstStyle/>
          <a:p>
            <a:pPr indent="0" marL="0">
              <a:buNone/>
            </a:pPr>
            <a:r>
              <a:rPr lang="en-US" sz="1400" b="1" dirty="0">
                <a:solidFill>
                  <a:srgbClr val="1F2A5C"/>
                </a:solidFill>
              </a:rPr>
              <a:t>Error analizado: C13, separación de hecho</a:t>
            </a:r>
            <a:endParaRPr lang="en-US" sz="1400" dirty="0"/>
          </a:p>
        </p:txBody>
      </p:sp>
      <p:sp>
        <p:nvSpPr>
          <p:cNvPr id="13" name="Text 9"/>
          <p:cNvSpPr txBox="1"/>
          <p:nvPr/>
        </p:nvSpPr>
        <p:spPr>
          <a:xfrm>
            <a:off x="822960" y="5349240"/>
            <a:ext cx="10545775" cy="822960"/>
          </a:xfrm>
          <a:prstGeom prst="rect">
            <a:avLst/>
          </a:prstGeom>
          <a:noFill/>
          <a:ln/>
        </p:spPr>
        <p:txBody>
          <a:bodyPr wrap="square" lIns="0" tIns="0" rIns="0" bIns="0" rtlCol="0" anchor="t"/>
          <a:lstStyle/>
          <a:p>
            <a:pPr indent="0" marL="0">
              <a:buNone/>
            </a:pPr>
            <a:r>
              <a:rPr lang="en-US" sz="1250" dirty="0">
                <a:solidFill>
                  <a:srgbClr val="1E2235"/>
                </a:solidFill>
              </a:rPr>
              <a:t>El art. 333 está en el puesto 3 en A. En B cae al 13: BM25 premia los arts. 2081 y 2082 de Derecho Internacional Privado, que repiten "divorcio y separación de cuerpos" pero regulan la ley aplicable. C lo devuelve al puesto 3. C07, C12 y C19 (parafraseadas) no tienen ningún relevante entre los 20 candidatos en ninguna condición.</a:t>
            </a:r>
            <a:endParaRPr lang="en-US" sz="125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EXPERIMENTO 2</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La evidencia llega al contexto, pero el modelo de 0.5B no la usa</a:t>
            </a:r>
            <a:endParaRPr lang="en-US" sz="3000" dirty="0"/>
          </a:p>
        </p:txBody>
      </p:sp>
      <p:sp>
        <p:nvSpPr>
          <p:cNvPr id="4" name="Shape 2"/>
          <p:cNvSpPr/>
          <p:nvPr/>
        </p:nvSpPr>
        <p:spPr>
          <a:xfrm>
            <a:off x="548640" y="1645920"/>
            <a:ext cx="5669280" cy="4526280"/>
          </a:xfrm>
          <a:prstGeom prst="roundRect">
            <a:avLst>
              <a:gd name="adj" fmla="val 1616"/>
            </a:avLst>
          </a:prstGeom>
          <a:solidFill>
            <a:srgbClr val="F1F3F9"/>
          </a:solidFill>
          <a:ln w="12700">
            <a:solidFill>
              <a:srgbClr val="F1F3F9"/>
            </a:solidFill>
            <a:prstDash val="solid"/>
          </a:ln>
        </p:spPr>
      </p:sp>
      <p:sp>
        <p:nvSpPr>
          <p:cNvPr id="5" name="Text 3"/>
          <p:cNvSpPr txBox="1"/>
          <p:nvPr/>
        </p:nvSpPr>
        <p:spPr>
          <a:xfrm>
            <a:off x="777240" y="1764792"/>
            <a:ext cx="5212080" cy="320040"/>
          </a:xfrm>
          <a:prstGeom prst="rect">
            <a:avLst/>
          </a:prstGeom>
          <a:noFill/>
          <a:ln/>
        </p:spPr>
        <p:txBody>
          <a:bodyPr wrap="square" lIns="0" tIns="0" rIns="0" bIns="0" rtlCol="0" anchor="t"/>
          <a:lstStyle/>
          <a:p>
            <a:pPr indent="0" marL="0">
              <a:buNone/>
            </a:pPr>
            <a:r>
              <a:rPr lang="en-US" sz="1400" b="1" dirty="0">
                <a:solidFill>
                  <a:srgbClr val="1F2A5C"/>
                </a:solidFill>
              </a:rPr>
              <a:t>Closed-book frente a RAG (top-3 de C)</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2194560"/>
          <a:ext cx="5212080" cy="914400"/>
        </p:xfrm>
        <a:graphic>
          <a:graphicData uri="http://schemas.openxmlformats.org/drawingml/2006/table">
            <a:tbl>
              <a:tblPr/>
              <a:tblGrid>
                <a:gridCol w="2501798"/>
                <a:gridCol w="1355141"/>
                <a:gridCol w="1355141"/>
              </a:tblGrid>
              <a:tr h="329184">
                <a:tc>
                  <a:txBody>
                    <a:bodyPr/>
                    <a:lstStyle/>
                    <a:p>
                      <a:pPr algn="ctr" indent="0" marL="0">
                        <a:buNone/>
                      </a:pPr>
                      <a:r>
                        <a:rPr lang="en-US" sz="1100" b="1" dirty="0">
                          <a:solidFill>
                            <a:srgbClr val="FFFFFF"/>
                          </a:solidFill>
                        </a:rPr>
                        <a:t>Medida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Closed-book</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RAG</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329184">
                <a:tc>
                  <a:txBody>
                    <a:bodyPr/>
                    <a:lstStyle/>
                    <a:p>
                      <a:pPr indent="0" marL="0">
                        <a:buNone/>
                      </a:pPr>
                      <a:r>
                        <a:rPr lang="en-US" sz="1100" dirty="0">
                          <a:solidFill>
                            <a:srgbClr val="1E2235"/>
                          </a:solidFill>
                        </a:rPr>
                        <a:t>Cumple el schema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8 / 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12 / 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29184">
                <a:tc>
                  <a:txBody>
                    <a:bodyPr/>
                    <a:lstStyle/>
                    <a:p>
                      <a:pPr indent="0" marL="0">
                        <a:buNone/>
                      </a:pPr>
                      <a:r>
                        <a:rPr lang="en-US" sz="1100" b="1" dirty="0">
                          <a:solidFill>
                            <a:srgbClr val="1E2235"/>
                          </a:solidFill>
                        </a:rPr>
                        <a:t>Correctas (10 consultas)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2235"/>
                          </a:solidFill>
                        </a:rPr>
                        <a:t>2 / 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E2235"/>
                          </a:solidFill>
                        </a:rPr>
                        <a:t>1.5 / 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235"/>
                          </a:solidFill>
                        </a:rPr>
                        <a:t>Cita algún artículo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 / 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 / 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235"/>
                          </a:solidFill>
                        </a:rPr>
                        <a:t>Afirmaciones respaldadas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 / 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3 / 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235"/>
                          </a:solidFill>
                        </a:rPr>
                        <a:t>Abstención sin evidencia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 / 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 / 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29184">
                <a:tc>
                  <a:txBody>
                    <a:bodyPr/>
                    <a:lstStyle/>
                    <a:p>
                      <a:pPr indent="0" marL="0">
                        <a:buNone/>
                      </a:pPr>
                      <a:r>
                        <a:rPr lang="en-US" sz="1100" dirty="0">
                          <a:solidFill>
                            <a:srgbClr val="1E2235"/>
                          </a:solidFill>
                        </a:rPr>
                        <a:t>Latencia media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14.9 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34.5 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777240" y="4709160"/>
            <a:ext cx="5212080" cy="914400"/>
          </a:xfrm>
          <a:prstGeom prst="rect">
            <a:avLst/>
          </a:prstGeom>
          <a:noFill/>
          <a:ln/>
        </p:spPr>
        <p:txBody>
          <a:bodyPr wrap="square" lIns="0" tIns="0" rIns="0" bIns="0" rtlCol="0" anchor="t"/>
          <a:lstStyle/>
          <a:p>
            <a:pPr indent="0" marL="0">
              <a:buNone/>
            </a:pPr>
            <a:r>
              <a:rPr lang="en-US" sz="1200" dirty="0">
                <a:solidFill>
                  <a:srgbClr val="5B6275"/>
                </a:solidFill>
              </a:rPr>
              <a:t>Evidencia completa en el contexto en 7 de 10 consultas. Auditoría manual por afirmación: respaldada solo si un artículo entregado la dice explícitamente.</a:t>
            </a:r>
            <a:endParaRPr lang="en-US" sz="1200" dirty="0"/>
          </a:p>
        </p:txBody>
      </p:sp>
      <p:sp>
        <p:nvSpPr>
          <p:cNvPr id="8" name="Text 5"/>
          <p:cNvSpPr txBox="1"/>
          <p:nvPr/>
        </p:nvSpPr>
        <p:spPr>
          <a:xfrm>
            <a:off x="777240" y="5349240"/>
            <a:ext cx="5212080" cy="411480"/>
          </a:xfrm>
          <a:prstGeom prst="rect">
            <a:avLst/>
          </a:prstGeom>
          <a:noFill/>
          <a:ln/>
        </p:spPr>
        <p:txBody>
          <a:bodyPr wrap="square" lIns="0" tIns="0" rIns="0" bIns="0" rtlCol="0" anchor="t"/>
          <a:lstStyle/>
          <a:p>
            <a:pPr indent="0" marL="0">
              <a:buNone/>
            </a:pPr>
            <a:r>
              <a:rPr lang="en-US" sz="1200" dirty="0">
                <a:solidFill>
                  <a:srgbClr val="5B6275"/>
                </a:solidFill>
              </a:rPr>
              <a:t>Qwen2.5-0.5B-Instruct, greedy, 220 tokens, mismo prompt de sistema.</a:t>
            </a:r>
            <a:endParaRPr lang="en-US" sz="1200" dirty="0"/>
          </a:p>
        </p:txBody>
      </p:sp>
      <p:sp>
        <p:nvSpPr>
          <p:cNvPr id="9" name="Shape 6"/>
          <p:cNvSpPr/>
          <p:nvPr/>
        </p:nvSpPr>
        <p:spPr>
          <a:xfrm>
            <a:off x="6492240" y="1645920"/>
            <a:ext cx="5150815" cy="1399032"/>
          </a:xfrm>
          <a:prstGeom prst="roundRect">
            <a:avLst>
              <a:gd name="adj" fmla="val 5229"/>
            </a:avLst>
          </a:prstGeom>
          <a:solidFill>
            <a:srgbClr val="FFFFFF"/>
          </a:solidFill>
          <a:ln w="12700">
            <a:solidFill>
              <a:srgbClr val="D5DAE8"/>
            </a:solidFill>
            <a:prstDash val="solid"/>
          </a:ln>
        </p:spPr>
      </p:sp>
      <p:sp>
        <p:nvSpPr>
          <p:cNvPr id="10" name="Text 7"/>
          <p:cNvSpPr txBox="1"/>
          <p:nvPr/>
        </p:nvSpPr>
        <p:spPr>
          <a:xfrm>
            <a:off x="6720840" y="1764792"/>
            <a:ext cx="4693615" cy="292608"/>
          </a:xfrm>
          <a:prstGeom prst="rect">
            <a:avLst/>
          </a:prstGeom>
          <a:noFill/>
          <a:ln/>
        </p:spPr>
        <p:txBody>
          <a:bodyPr wrap="square" lIns="0" tIns="0" rIns="0" bIns="0" rtlCol="0" anchor="t"/>
          <a:lstStyle/>
          <a:p>
            <a:pPr indent="0" marL="0">
              <a:buNone/>
            </a:pPr>
            <a:r>
              <a:rPr lang="en-US" sz="1350" b="1" dirty="0">
                <a:solidFill>
                  <a:srgbClr val="C8553D"/>
                </a:solidFill>
              </a:rPr>
              <a:t>C06, respuesta no sustentada</a:t>
            </a:r>
            <a:endParaRPr lang="en-US" sz="1350" dirty="0"/>
          </a:p>
        </p:txBody>
      </p:sp>
      <p:sp>
        <p:nvSpPr>
          <p:cNvPr id="11" name="Text 8"/>
          <p:cNvSpPr txBox="1"/>
          <p:nvPr/>
        </p:nvSpPr>
        <p:spPr>
          <a:xfrm>
            <a:off x="6720840" y="2103120"/>
            <a:ext cx="4693615" cy="868680"/>
          </a:xfrm>
          <a:prstGeom prst="rect">
            <a:avLst/>
          </a:prstGeom>
          <a:noFill/>
          <a:ln/>
        </p:spPr>
        <p:txBody>
          <a:bodyPr wrap="square" lIns="0" tIns="0" rIns="0" bIns="0" rtlCol="0" anchor="t"/>
          <a:lstStyle/>
          <a:p>
            <a:pPr indent="0" marL="0">
              <a:buNone/>
            </a:pPr>
            <a:r>
              <a:rPr lang="en-US" sz="1200" dirty="0">
                <a:solidFill>
                  <a:srgbClr val="1E2235"/>
                </a:solidFill>
              </a:rPr>
              <a:t>El art. 2001 llegó primero: "a los diez años, la acción ... de nulidad". El RAG respondió "tres" (inciso 3, otra acción). Closed-book había dicho 10.</a:t>
            </a:r>
            <a:endParaRPr lang="en-US" sz="1200" dirty="0"/>
          </a:p>
        </p:txBody>
      </p:sp>
      <p:sp>
        <p:nvSpPr>
          <p:cNvPr id="12" name="Shape 9"/>
          <p:cNvSpPr/>
          <p:nvPr/>
        </p:nvSpPr>
        <p:spPr>
          <a:xfrm>
            <a:off x="6492240" y="3182112"/>
            <a:ext cx="5150815" cy="1399032"/>
          </a:xfrm>
          <a:prstGeom prst="roundRect">
            <a:avLst>
              <a:gd name="adj" fmla="val 5229"/>
            </a:avLst>
          </a:prstGeom>
          <a:solidFill>
            <a:srgbClr val="FFFFFF"/>
          </a:solidFill>
          <a:ln w="12700">
            <a:solidFill>
              <a:srgbClr val="D5DAE8"/>
            </a:solidFill>
            <a:prstDash val="solid"/>
          </a:ln>
        </p:spPr>
      </p:sp>
      <p:sp>
        <p:nvSpPr>
          <p:cNvPr id="13" name="Text 10"/>
          <p:cNvSpPr txBox="1"/>
          <p:nvPr/>
        </p:nvSpPr>
        <p:spPr>
          <a:xfrm>
            <a:off x="6720840" y="3300984"/>
            <a:ext cx="4693615" cy="292608"/>
          </a:xfrm>
          <a:prstGeom prst="rect">
            <a:avLst/>
          </a:prstGeom>
          <a:noFill/>
          <a:ln/>
        </p:spPr>
        <p:txBody>
          <a:bodyPr wrap="square" lIns="0" tIns="0" rIns="0" bIns="0" rtlCol="0" anchor="t"/>
          <a:lstStyle/>
          <a:p>
            <a:pPr indent="0" marL="0">
              <a:buNone/>
            </a:pPr>
            <a:r>
              <a:rPr lang="en-US" sz="1350" b="1" dirty="0">
                <a:solidFill>
                  <a:srgbClr val="1F2A5C"/>
                </a:solidFill>
              </a:rPr>
              <a:t>C05, regla frente a excepción</a:t>
            </a:r>
            <a:endParaRPr lang="en-US" sz="1350" dirty="0"/>
          </a:p>
        </p:txBody>
      </p:sp>
      <p:sp>
        <p:nvSpPr>
          <p:cNvPr id="14" name="Text 11"/>
          <p:cNvSpPr txBox="1"/>
          <p:nvPr/>
        </p:nvSpPr>
        <p:spPr>
          <a:xfrm>
            <a:off x="6720840" y="3639312"/>
            <a:ext cx="4693615" cy="868680"/>
          </a:xfrm>
          <a:prstGeom prst="rect">
            <a:avLst/>
          </a:prstGeom>
          <a:noFill/>
          <a:ln/>
        </p:spPr>
        <p:txBody>
          <a:bodyPr wrap="square" lIns="0" tIns="0" rIns="0" bIns="0" rtlCol="0" anchor="t"/>
          <a:lstStyle/>
          <a:p>
            <a:pPr indent="0" marL="0">
              <a:buNone/>
            </a:pPr>
            <a:r>
              <a:rPr lang="en-US" sz="1200" dirty="0">
                <a:solidFill>
                  <a:srgbClr val="1E2235"/>
                </a:solidFill>
              </a:rPr>
              <a:t>Con los arts. 2007 y 183 en el contexto, respondió que la caducidad sí se traslada al día hábil: aplicó la regla general.</a:t>
            </a:r>
            <a:endParaRPr lang="en-US" sz="1200" dirty="0"/>
          </a:p>
        </p:txBody>
      </p:sp>
      <p:sp>
        <p:nvSpPr>
          <p:cNvPr id="15" name="Shape 12"/>
          <p:cNvSpPr/>
          <p:nvPr/>
        </p:nvSpPr>
        <p:spPr>
          <a:xfrm>
            <a:off x="6492240" y="4718304"/>
            <a:ext cx="5150815" cy="1399032"/>
          </a:xfrm>
          <a:prstGeom prst="roundRect">
            <a:avLst>
              <a:gd name="adj" fmla="val 5229"/>
            </a:avLst>
          </a:prstGeom>
          <a:solidFill>
            <a:srgbClr val="FFFFFF"/>
          </a:solidFill>
          <a:ln w="12700">
            <a:solidFill>
              <a:srgbClr val="D5DAE8"/>
            </a:solidFill>
            <a:prstDash val="solid"/>
          </a:ln>
        </p:spPr>
      </p:sp>
      <p:sp>
        <p:nvSpPr>
          <p:cNvPr id="16" name="Text 13"/>
          <p:cNvSpPr txBox="1"/>
          <p:nvPr/>
        </p:nvSpPr>
        <p:spPr>
          <a:xfrm>
            <a:off x="6720840" y="4837176"/>
            <a:ext cx="4693615" cy="292608"/>
          </a:xfrm>
          <a:prstGeom prst="rect">
            <a:avLst/>
          </a:prstGeom>
          <a:noFill/>
          <a:ln/>
        </p:spPr>
        <p:txBody>
          <a:bodyPr wrap="square" lIns="0" tIns="0" rIns="0" bIns="0" rtlCol="0" anchor="t"/>
          <a:lstStyle/>
          <a:p>
            <a:pPr indent="0" marL="0">
              <a:buNone/>
            </a:pPr>
            <a:r>
              <a:rPr lang="en-US" sz="1350" b="1" dirty="0">
                <a:solidFill>
                  <a:srgbClr val="1F2A5C"/>
                </a:solidFill>
              </a:rPr>
              <a:t>N01, sin evidencia en el Código</a:t>
            </a:r>
            <a:endParaRPr lang="en-US" sz="1350" dirty="0"/>
          </a:p>
        </p:txBody>
      </p:sp>
      <p:sp>
        <p:nvSpPr>
          <p:cNvPr id="17" name="Text 14"/>
          <p:cNvSpPr txBox="1"/>
          <p:nvPr/>
        </p:nvSpPr>
        <p:spPr>
          <a:xfrm>
            <a:off x="6720840" y="5175504"/>
            <a:ext cx="4693615" cy="868680"/>
          </a:xfrm>
          <a:prstGeom prst="rect">
            <a:avLst/>
          </a:prstGeom>
          <a:noFill/>
          <a:ln/>
        </p:spPr>
        <p:txBody>
          <a:bodyPr wrap="square" lIns="0" tIns="0" rIns="0" bIns="0" rtlCol="0" anchor="t"/>
          <a:lstStyle/>
          <a:p>
            <a:pPr indent="0" marL="0">
              <a:buNone/>
            </a:pPr>
            <a:r>
              <a:rPr lang="en-US" sz="1200" dirty="0">
                <a:solidFill>
                  <a:srgbClr val="1E2235"/>
                </a:solidFill>
              </a:rPr>
              <a:t>El art. 648 dice "el plazo para apelar es de cinco días" para el consejo de familia. Respondió "cinco días" en vez de abstenerse.</a:t>
            </a:r>
            <a:endParaRPr lang="en-US" sz="120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EXPERIMENTO 3</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Cómputo de plazos: el contrato decide qué se reintenta</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685800"/>
                <a:gridCol w="2377440"/>
                <a:gridCol w="3063240"/>
                <a:gridCol w="822960"/>
              </a:tblGrid>
              <a:tr h="393192">
                <a:tc>
                  <a:txBody>
                    <a:bodyPr/>
                    <a:lstStyle/>
                    <a:p>
                      <a:pPr algn="ctr" indent="0" marL="0">
                        <a:buNone/>
                      </a:pPr>
                      <a:r>
                        <a:rPr lang="en-US" sz="1100" b="1" dirty="0">
                          <a:solidFill>
                            <a:srgbClr val="FFFFFF"/>
                          </a:solidFill>
                        </a:rPr>
                        <a:t>Caso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Entrada o fallo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Resultado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Intentos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393192">
                <a:tc>
                  <a:txBody>
                    <a:bodyPr/>
                    <a:lstStyle/>
                    <a:p>
                      <a:pPr algn="ctr" indent="0" marL="0">
                        <a:buNone/>
                      </a:pPr>
                      <a:r>
                        <a:rPr lang="en-US" sz="1100" b="1" dirty="0">
                          <a:solidFill>
                            <a:srgbClr val="1F2A5C"/>
                          </a:solidFill>
                        </a:rPr>
                        <a:t>H01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30 días desde el 1/10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ok: 2/11 (sábado y feriado trasladados)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H03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H01 como caducidad</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ok: 31/10, sin traslado (art. 2007)</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H05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cantidad = -5</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validation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H08</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vence en 2027</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domain: fuera_de_calendario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H09</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fallo transitorio una vez</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ok en el intento 2 (59.9 ms)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H10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fallo transitorio persistente</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transient, reintentos agotados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H11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fuente lenta 500 ms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timeout, 753 ms en total</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H12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salida corrupta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output_contract</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393192">
                <a:tc>
                  <a:txBody>
                    <a:bodyPr/>
                    <a:lstStyle/>
                    <a:p>
                      <a:pPr algn="ctr" indent="0" marL="0">
                        <a:buNone/>
                      </a:pPr>
                      <a:r>
                        <a:rPr lang="en-US" sz="1100" b="1" dirty="0">
                          <a:solidFill>
                            <a:srgbClr val="1F2A5C"/>
                          </a:solidFill>
                        </a:rPr>
                        <a:t>H13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herramienta no permitida</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protocol</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235"/>
                          </a:solidFill>
                        </a:rPr>
                        <a:t>0</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669280"/>
            <a:ext cx="6949440" cy="502920"/>
          </a:xfrm>
          <a:prstGeom prst="rect">
            <a:avLst/>
          </a:prstGeom>
          <a:noFill/>
          <a:ln/>
        </p:spPr>
        <p:txBody>
          <a:bodyPr wrap="square" lIns="0" tIns="0" rIns="0" bIns="0" rtlCol="0" anchor="t"/>
          <a:lstStyle/>
          <a:p>
            <a:pPr indent="0" marL="0">
              <a:buNone/>
            </a:pPr>
            <a:r>
              <a:rPr lang="en-US" sz="1200" dirty="0">
                <a:solidFill>
                  <a:srgbClr val="5B6275"/>
                </a:solidFill>
              </a:rPr>
              <a:t>13 de 13 casos con el resultado esperado; las fechas se calcularon a mano antes de ejecutar. 20 pruebas de pytest pasan.</a:t>
            </a:r>
            <a:endParaRPr lang="en-US" sz="1200" dirty="0"/>
          </a:p>
        </p:txBody>
      </p:sp>
      <p:sp>
        <p:nvSpPr>
          <p:cNvPr id="6" name="Shape 3"/>
          <p:cNvSpPr/>
          <p:nvPr/>
        </p:nvSpPr>
        <p:spPr>
          <a:xfrm>
            <a:off x="7772400" y="1645920"/>
            <a:ext cx="3870655" cy="2057400"/>
          </a:xfrm>
          <a:prstGeom prst="roundRect">
            <a:avLst>
              <a:gd name="adj" fmla="val 3556"/>
            </a:avLst>
          </a:prstGeom>
          <a:solidFill>
            <a:srgbClr val="F1F3F9"/>
          </a:solidFill>
          <a:ln w="12700">
            <a:solidFill>
              <a:srgbClr val="F1F3F9"/>
            </a:solidFill>
            <a:prstDash val="solid"/>
          </a:ln>
        </p:spPr>
      </p:sp>
      <p:sp>
        <p:nvSpPr>
          <p:cNvPr id="7" name="Text 4"/>
          <p:cNvSpPr txBox="1"/>
          <p:nvPr/>
        </p:nvSpPr>
        <p:spPr>
          <a:xfrm>
            <a:off x="8001000" y="1783080"/>
            <a:ext cx="3413455" cy="320040"/>
          </a:xfrm>
          <a:prstGeom prst="rect">
            <a:avLst/>
          </a:prstGeom>
          <a:noFill/>
          <a:ln/>
        </p:spPr>
        <p:txBody>
          <a:bodyPr wrap="square" lIns="0" tIns="0" rIns="0" bIns="0" rtlCol="0" anchor="t"/>
          <a:lstStyle/>
          <a:p>
            <a:pPr indent="0" marL="0">
              <a:buNone/>
            </a:pPr>
            <a:r>
              <a:rPr lang="en-US" sz="1400" b="1" dirty="0">
                <a:solidFill>
                  <a:srgbClr val="1F2A5C"/>
                </a:solidFill>
              </a:rPr>
              <a:t>Política</a:t>
            </a:r>
            <a:endParaRPr lang="en-US" sz="1400" dirty="0"/>
          </a:p>
        </p:txBody>
      </p:sp>
      <p:sp>
        <p:nvSpPr>
          <p:cNvPr id="8" name="Text 5"/>
          <p:cNvSpPr txBox="1"/>
          <p:nvPr/>
        </p:nvSpPr>
        <p:spPr>
          <a:xfrm>
            <a:off x="8001000" y="2194560"/>
            <a:ext cx="3413455" cy="14630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E2235"/>
                </a:solidFill>
              </a:rPr>
              <a:t>Hasta 3 intentos, espera de 50 y 100 ms</a:t>
            </a:r>
            <a:endParaRPr lang="en-US" sz="1200" dirty="0"/>
          </a:p>
          <a:p>
            <a:pPr marL="177800" indent="-177800">
              <a:spcAft>
                <a:spcPts val="500"/>
              </a:spcAft>
              <a:buSzPct val="100000"/>
              <a:buChar char="•"/>
            </a:pPr>
            <a:r>
              <a:rPr lang="en-US" sz="1200" dirty="0">
                <a:solidFill>
                  <a:srgbClr val="1E2235"/>
                </a:solidFill>
              </a:rPr>
              <a:t>200 ms por intento, 800 ms de límite total</a:t>
            </a:r>
            <a:endParaRPr lang="en-US" sz="1200" dirty="0"/>
          </a:p>
          <a:p>
            <a:pPr marL="177800" indent="-177800">
              <a:spcAft>
                <a:spcPts val="500"/>
              </a:spcAft>
              <a:buSzPct val="100000"/>
              <a:buChar char="•"/>
            </a:pPr>
            <a:r>
              <a:rPr lang="en-US" sz="1200" dirty="0">
                <a:solidFill>
                  <a:srgbClr val="1E2235"/>
                </a:solidFill>
              </a:rPr>
              <a:t>Antes de esperar se verifica el tiempo restante</a:t>
            </a:r>
            <a:endParaRPr lang="en-US" sz="1200" dirty="0"/>
          </a:p>
        </p:txBody>
      </p:sp>
      <p:sp>
        <p:nvSpPr>
          <p:cNvPr id="9" name="Shape 6"/>
          <p:cNvSpPr/>
          <p:nvPr/>
        </p:nvSpPr>
        <p:spPr>
          <a:xfrm>
            <a:off x="7772400" y="3886200"/>
            <a:ext cx="3870655" cy="2286000"/>
          </a:xfrm>
          <a:prstGeom prst="roundRect">
            <a:avLst>
              <a:gd name="adj" fmla="val 3200"/>
            </a:avLst>
          </a:prstGeom>
          <a:solidFill>
            <a:srgbClr val="1F2A5C"/>
          </a:solidFill>
          <a:ln w="12700">
            <a:solidFill>
              <a:srgbClr val="1F2A5C"/>
            </a:solidFill>
            <a:prstDash val="solid"/>
          </a:ln>
        </p:spPr>
      </p:sp>
      <p:sp>
        <p:nvSpPr>
          <p:cNvPr id="10" name="Text 7"/>
          <p:cNvSpPr txBox="1"/>
          <p:nvPr/>
        </p:nvSpPr>
        <p:spPr>
          <a:xfrm>
            <a:off x="8001000" y="4023360"/>
            <a:ext cx="3413455" cy="320040"/>
          </a:xfrm>
          <a:prstGeom prst="rect">
            <a:avLst/>
          </a:prstGeom>
          <a:noFill/>
          <a:ln/>
        </p:spPr>
        <p:txBody>
          <a:bodyPr wrap="square" lIns="0" tIns="0" rIns="0" bIns="0" rtlCol="0" anchor="t"/>
          <a:lstStyle/>
          <a:p>
            <a:pPr indent="0" marL="0">
              <a:buNone/>
            </a:pPr>
            <a:r>
              <a:rPr lang="en-US" sz="1400" b="1" dirty="0">
                <a:solidFill>
                  <a:srgbClr val="FFFFFF"/>
                </a:solidFill>
              </a:rPr>
              <a:t>Por qué reintentar solo transient y timeout</a:t>
            </a:r>
            <a:endParaRPr lang="en-US" sz="1400" dirty="0"/>
          </a:p>
        </p:txBody>
      </p:sp>
      <p:sp>
        <p:nvSpPr>
          <p:cNvPr id="11" name="Text 8"/>
          <p:cNvSpPr txBox="1"/>
          <p:nvPr/>
        </p:nvSpPr>
        <p:spPr>
          <a:xfrm>
            <a:off x="8001000" y="4434840"/>
            <a:ext cx="3413455" cy="1645920"/>
          </a:xfrm>
          <a:prstGeom prst="rect">
            <a:avLst/>
          </a:prstGeom>
          <a:noFill/>
          <a:ln/>
        </p:spPr>
        <p:txBody>
          <a:bodyPr wrap="square" lIns="0" tIns="0" rIns="0" bIns="0" rtlCol="0" anchor="t"/>
          <a:lstStyle/>
          <a:p>
            <a:pPr indent="0" marL="0">
              <a:buNone/>
            </a:pPr>
            <a:r>
              <a:rPr lang="en-US" sz="1250" dirty="0">
                <a:solidFill>
                  <a:srgbClr val="E4E8F5"/>
                </a:solidFill>
              </a:rPr>
              <a:t>La fuente del calendario puede responder en el siguiente intento. Con validation, domain o protocol los mismos argumentos dan el mismo error. output_contract es un defecto de la implementación: reintentarlo lo ocultaría.</a:t>
            </a:r>
            <a:endParaRPr lang="en-US" sz="125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b="1" spc="400" kern="0" dirty="0">
                <a:solidFill>
                  <a:srgbClr val="2E3C7A"/>
                </a:solidFill>
              </a:rPr>
              <a:t>RESULTADOS Y CONCLUSIONES</a:t>
            </a:r>
            <a:endParaRPr lang="en-US" sz="1100" dirty="0"/>
          </a:p>
        </p:txBody>
      </p:sp>
      <p:sp>
        <p:nvSpPr>
          <p:cNvPr id="3" name="Text 1"/>
          <p:cNvSpPr txBox="1"/>
          <p:nvPr/>
        </p:nvSpPr>
        <p:spPr>
          <a:xfrm>
            <a:off x="548640" y="713232"/>
            <a:ext cx="11094415" cy="685800"/>
          </a:xfrm>
          <a:prstGeom prst="rect">
            <a:avLst/>
          </a:prstGeom>
          <a:noFill/>
          <a:ln/>
        </p:spPr>
        <p:txBody>
          <a:bodyPr wrap="square" lIns="0" tIns="0" rIns="0" bIns="0" rtlCol="0" anchor="t"/>
          <a:lstStyle/>
          <a:p>
            <a:pPr indent="0" marL="0">
              <a:buNone/>
            </a:pPr>
            <a:r>
              <a:rPr lang="en-US" sz="3000" b="1" dirty="0">
                <a:solidFill>
                  <a:srgbClr val="1F2A5C"/>
                </a:solidFill>
                <a:latin typeface="Cambria" pitchFamily="34" charset="0"/>
                <a:ea typeface="Cambria" pitchFamily="34" charset="-122"/>
                <a:cs typeface="Cambria" pitchFamily="34" charset="-120"/>
              </a:rPr>
              <a:t>Bajo este corpus, el cuello de botella es el generador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548640"/>
                <a:gridCol w="1600200"/>
                <a:gridCol w="2606040"/>
                <a:gridCol w="4023360"/>
                <a:gridCol w="2316175"/>
              </a:tblGrid>
              <a:tr h="457200">
                <a:tc>
                  <a:txBody>
                    <a:bodyPr/>
                    <a:lstStyle/>
                    <a:p>
                      <a:pPr algn="ctr" indent="0" marL="0">
                        <a:buNone/>
                      </a:pPr>
                      <a:r>
                        <a:rPr lang="en-US" sz="1100" b="1" dirty="0">
                          <a:solidFill>
                            <a:srgbClr val="FFFFFF"/>
                          </a:solidFill>
                        </a:rPr>
                        <a:t>Exp.</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Línea base</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Modificación</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Resultado principal</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c>
                  <a:txBody>
                    <a:bodyPr/>
                    <a:lstStyle/>
                    <a:p>
                      <a:pPr algn="ctr" indent="0" marL="0">
                        <a:buNone/>
                      </a:pPr>
                      <a:r>
                        <a:rPr lang="en-US" sz="1100" b="1" dirty="0">
                          <a:solidFill>
                            <a:srgbClr val="FFFFFF"/>
                          </a:solidFill>
                        </a:rPr>
                        <a:t>Error representativo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1F2A5C"/>
                    </a:solidFill>
                  </a:tcPr>
                </a:tc>
              </a:tr>
              <a:tr h="457200">
                <a:tc>
                  <a:txBody>
                    <a:bodyPr/>
                    <a:lstStyle/>
                    <a:p>
                      <a:pPr algn="ctr" indent="0" marL="0">
                        <a:buNone/>
                      </a:pPr>
                      <a:r>
                        <a:rPr lang="en-US" sz="1100" b="1" dirty="0">
                          <a:solidFill>
                            <a:srgbClr val="1F2A5C"/>
                          </a:solidFill>
                        </a:rPr>
                        <a:t>1</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A denso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B: + BM25 + RRF; C: + Cross-Encoder</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 mejora nDCG@5 en +0.084 frente a B; A tiene el mejor Recall@3 (0.658)</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C13: distractor léxico de DIP</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1F2A5C"/>
                          </a:solidFill>
                        </a:rPr>
                        <a:t>2</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closed-book</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top-3 de C en el prompt</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Correctas 1.5 frente a 2 de 10; 0 citas; 3 de 12 respaldadas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C06: "tres" con el art. 2001 primero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r h="457200">
                <a:tc>
                  <a:txBody>
                    <a:bodyPr/>
                    <a:lstStyle/>
                    <a:p>
                      <a:pPr algn="ctr" indent="0" marL="0">
                        <a:buNone/>
                      </a:pPr>
                      <a:r>
                        <a:rPr lang="en-US" sz="1100" b="1" dirty="0">
                          <a:solidFill>
                            <a:srgbClr val="1F2A5C"/>
                          </a:solidFill>
                        </a:rPr>
                        <a:t>3</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13 casos esperados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fallos inyectados</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13 de 13; reintento solo en transient y timeout</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c>
                  <a:txBody>
                    <a:bodyPr/>
                    <a:lstStyle/>
                    <a:p>
                      <a:pPr indent="0" marL="0">
                        <a:buNone/>
                      </a:pPr>
                      <a:r>
                        <a:rPr lang="en-US" sz="1100" dirty="0">
                          <a:solidFill>
                            <a:srgbClr val="1E2235"/>
                          </a:solidFill>
                        </a:rPr>
                        <a:t>H08: vencimiento fuera del calendario</a:t>
                      </a:r>
                      <a:endParaRPr lang="en-US" sz="1100" dirty="0"/>
                    </a:p>
                  </a:txBody>
                  <a:tcPr marL="91440" marR="91440" marT="45720" marB="45720" anchor="ctr">
                    <a:lnL w="9525" cap="flat" cmpd="sng" algn="ctr">
                      <a:solidFill>
                        <a:srgbClr val="D5DAE8"/>
                      </a:solidFill>
                      <a:prstDash val="solid"/>
                      <a:round/>
                      <a:headEnd type="none" w="med" len="med"/>
                      <a:tailEnd type="none" w="med" len="med"/>
                    </a:lnL>
                    <a:lnR w="9525" cap="flat" cmpd="sng" algn="ctr">
                      <a:solidFill>
                        <a:srgbClr val="D5DAE8"/>
                      </a:solidFill>
                      <a:prstDash val="solid"/>
                      <a:round/>
                      <a:headEnd type="none" w="med" len="med"/>
                      <a:tailEnd type="none" w="med" len="med"/>
                    </a:lnR>
                    <a:lnT w="9525" cap="flat" cmpd="sng" algn="ctr">
                      <a:solidFill>
                        <a:srgbClr val="D5DAE8"/>
                      </a:solidFill>
                      <a:prstDash val="solid"/>
                      <a:round/>
                      <a:headEnd type="none" w="med" len="med"/>
                      <a:tailEnd type="none" w="med" len="med"/>
                    </a:lnT>
                    <a:lnB w="9525" cap="flat" cmpd="sng" algn="ctr">
                      <a:solidFill>
                        <a:srgbClr val="D5DAE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3657600"/>
            <a:ext cx="5760720" cy="2514600"/>
          </a:xfrm>
          <a:prstGeom prst="roundRect">
            <a:avLst>
              <a:gd name="adj" fmla="val 2909"/>
            </a:avLst>
          </a:prstGeom>
          <a:solidFill>
            <a:srgbClr val="F1F3F9"/>
          </a:solidFill>
          <a:ln w="12700">
            <a:solidFill>
              <a:srgbClr val="F1F3F9"/>
            </a:solidFill>
            <a:prstDash val="solid"/>
          </a:ln>
        </p:spPr>
      </p:sp>
      <p:sp>
        <p:nvSpPr>
          <p:cNvPr id="6" name="Text 3"/>
          <p:cNvSpPr txBox="1"/>
          <p:nvPr/>
        </p:nvSpPr>
        <p:spPr>
          <a:xfrm>
            <a:off x="822960" y="3822192"/>
            <a:ext cx="5212080" cy="320040"/>
          </a:xfrm>
          <a:prstGeom prst="rect">
            <a:avLst/>
          </a:prstGeom>
          <a:noFill/>
          <a:ln/>
        </p:spPr>
        <p:txBody>
          <a:bodyPr wrap="square" lIns="0" tIns="0" rIns="0" bIns="0" rtlCol="0" anchor="t"/>
          <a:lstStyle/>
          <a:p>
            <a:pPr indent="0" marL="0">
              <a:buNone/>
            </a:pPr>
            <a:r>
              <a:rPr lang="en-US" sz="1400" b="1" dirty="0">
                <a:solidFill>
                  <a:srgbClr val="1F2A5C"/>
                </a:solidFill>
              </a:rPr>
              <a:t>Limitaciones</a:t>
            </a:r>
            <a:endParaRPr lang="en-US" sz="1400" dirty="0"/>
          </a:p>
        </p:txBody>
      </p:sp>
      <p:sp>
        <p:nvSpPr>
          <p:cNvPr id="7" name="Text 4"/>
          <p:cNvSpPr txBox="1"/>
          <p:nvPr/>
        </p:nvSpPr>
        <p:spPr>
          <a:xfrm>
            <a:off x="822960" y="4224528"/>
            <a:ext cx="5212080" cy="18288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E2235"/>
                </a:solidFill>
              </a:rPr>
              <a:t>20 consultas y qrels del autor, sin validación externa</a:t>
            </a:r>
            <a:endParaRPr lang="en-US" sz="1250" dirty="0"/>
          </a:p>
          <a:p>
            <a:pPr marL="177800" indent="-177800">
              <a:spcAft>
                <a:spcPts val="500"/>
              </a:spcAft>
              <a:buSzPct val="100000"/>
              <a:buChar char="•"/>
            </a:pPr>
            <a:r>
              <a:rPr lang="en-US" sz="1250" dirty="0">
                <a:solidFill>
                  <a:srgbClr val="1E2235"/>
                </a:solidFill>
              </a:rPr>
              <a:t>Una sola norma extraída de PDF; 4 artículos truncados</a:t>
            </a:r>
            <a:endParaRPr lang="en-US" sz="1250" dirty="0"/>
          </a:p>
          <a:p>
            <a:pPr marL="177800" indent="-177800">
              <a:spcAft>
                <a:spcPts val="500"/>
              </a:spcAft>
              <a:buSzPct val="100000"/>
              <a:buChar char="•"/>
            </a:pPr>
            <a:r>
              <a:rPr lang="en-US" sz="1250" dirty="0">
                <a:solidFill>
                  <a:srgbClr val="1E2235"/>
                </a:solidFill>
              </a:rPr>
              <a:t>Generador de 0.5B en CPU; auditoría de una sola persona</a:t>
            </a:r>
            <a:endParaRPr lang="en-US" sz="1250" dirty="0"/>
          </a:p>
          <a:p>
            <a:pPr marL="177800" indent="-177800">
              <a:spcAft>
                <a:spcPts val="500"/>
              </a:spcAft>
              <a:buSzPct val="100000"/>
              <a:buChar char="•"/>
            </a:pPr>
            <a:r>
              <a:rPr lang="en-US" sz="1250" dirty="0">
                <a:solidFill>
                  <a:srgbClr val="1E2235"/>
                </a:solidFill>
              </a:rPr>
              <a:t>Fallas de la herramienta simuladas; calendario de un año</a:t>
            </a:r>
            <a:endParaRPr lang="en-US" sz="1250" dirty="0"/>
          </a:p>
        </p:txBody>
      </p:sp>
      <p:sp>
        <p:nvSpPr>
          <p:cNvPr id="8" name="Shape 5"/>
          <p:cNvSpPr/>
          <p:nvPr/>
        </p:nvSpPr>
        <p:spPr>
          <a:xfrm>
            <a:off x="6583680" y="3657600"/>
            <a:ext cx="5059375" cy="2514600"/>
          </a:xfrm>
          <a:prstGeom prst="roundRect">
            <a:avLst>
              <a:gd name="adj" fmla="val 2909"/>
            </a:avLst>
          </a:prstGeom>
          <a:solidFill>
            <a:srgbClr val="1F2A5C"/>
          </a:solidFill>
          <a:ln w="12700">
            <a:solidFill>
              <a:srgbClr val="1F2A5C"/>
            </a:solidFill>
            <a:prstDash val="solid"/>
          </a:ln>
        </p:spPr>
      </p:sp>
      <p:sp>
        <p:nvSpPr>
          <p:cNvPr id="9" name="Text 6"/>
          <p:cNvSpPr txBox="1"/>
          <p:nvPr/>
        </p:nvSpPr>
        <p:spPr>
          <a:xfrm>
            <a:off x="6858000" y="3822192"/>
            <a:ext cx="4510735" cy="320040"/>
          </a:xfrm>
          <a:prstGeom prst="rect">
            <a:avLst/>
          </a:prstGeom>
          <a:noFill/>
          <a:ln/>
        </p:spPr>
        <p:txBody>
          <a:bodyPr wrap="square" lIns="0" tIns="0" rIns="0" bIns="0" rtlCol="0" anchor="t"/>
          <a:lstStyle/>
          <a:p>
            <a:pPr indent="0" marL="0">
              <a:buNone/>
            </a:pPr>
            <a:r>
              <a:rPr lang="en-US" sz="1400" b="1" dirty="0">
                <a:solidFill>
                  <a:srgbClr val="FFFFFF"/>
                </a:solidFill>
              </a:rPr>
              <a:t>Conclusión</a:t>
            </a:r>
            <a:endParaRPr lang="en-US" sz="1400" dirty="0"/>
          </a:p>
        </p:txBody>
      </p:sp>
      <p:sp>
        <p:nvSpPr>
          <p:cNvPr id="10" name="Text 7"/>
          <p:cNvSpPr txBox="1"/>
          <p:nvPr/>
        </p:nvSpPr>
        <p:spPr>
          <a:xfrm>
            <a:off x="6858000" y="4224528"/>
            <a:ext cx="4510735" cy="1828800"/>
          </a:xfrm>
          <a:prstGeom prst="rect">
            <a:avLst/>
          </a:prstGeom>
          <a:noFill/>
          <a:ln/>
        </p:spPr>
        <p:txBody>
          <a:bodyPr wrap="square" lIns="0" tIns="0" rIns="0" bIns="0" rtlCol="0" anchor="t"/>
          <a:lstStyle/>
          <a:p>
            <a:pPr indent="0" marL="0">
              <a:buNone/>
            </a:pPr>
            <a:r>
              <a:rPr lang="en-US" sz="1350" dirty="0">
                <a:solidFill>
                  <a:srgbClr val="FFFFFF"/>
                </a:solidFill>
              </a:rPr>
              <a:t>La recuperación densa trae el artículo correcto en la mayoría de las consultas directas y el reranker lo ordena mejor. Con Qwen2.5-0.5B, recibir la evidencia no mejoró la respuesta ni produjo citas. Antes de la etapa de agentes conviene cambiar el generador, no el recuperador.</a:t>
            </a:r>
            <a:endParaRPr lang="en-US" sz="1350" dirty="0"/>
          </a:p>
        </p:txBody>
      </p:sp>
      <p:sp>
        <p:nvSpPr>
          <p:cNvPr id="25" name="Slide Number Placeholder 0"/>
          <p:cNvSpPr>
            <a:spLocks noGrp="1"/>
          </p:cNvSpPr>
          <p:nvPr>
            <p:ph type="sldNum" sz="quarter" idx="4294967295"/>
          </p:nvPr>
        </p:nvSpPr>
        <p:spPr>
          <a:xfrm>
            <a:off x="11505895"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275"/>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Parcial Unda">
  <a:themeElements>
    <a:clrScheme name="Parcial Unda">
      <a:dk1>
        <a:srgbClr val="1E2235"/>
      </a:dk1>
      <a:lt1>
        <a:srgbClr val="FFFFFF"/>
      </a:lt1>
      <a:dk2>
        <a:srgbClr val="1F2A5C"/>
      </a:dk2>
      <a:lt2>
        <a:srgbClr val="F1F3F9"/>
      </a:lt2>
      <a:accent1>
        <a:srgbClr val="1F2A5C"/>
      </a:accent1>
      <a:accent2>
        <a:srgbClr val="5A6DB8"/>
      </a:accent2>
      <a:accent3>
        <a:srgbClr val="B8C2E6"/>
      </a:accent3>
      <a:accent4>
        <a:srgbClr val="3E7CB1"/>
      </a:accent4>
      <a:accent5>
        <a:srgbClr val="8A90A2"/>
      </a:accent5>
      <a:accent6>
        <a:srgbClr val="C8553D"/>
      </a:accent6>
      <a:hlink>
        <a:srgbClr val="5A6DB8"/>
      </a:hlink>
      <a:folHlink>
        <a:srgbClr val="2E3C7A"/>
      </a:folHlink>
    </a:clrScheme>
    <a:fontScheme name="Parcial Und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CC0F4 Examen parcial - Recuperación, RAG y herramienta sobre el Código Civil peruano</dc:title>
  <dc:subject>PptxGenJS Presentation</dc:subject>
  <dc:creator>Carlos Sinai Unda Miguel</dc:creator>
  <cp:lastModifiedBy>Carlos Sinai Unda Miguel</cp:lastModifiedBy>
  <cp:revision>1</cp:revision>
  <dcterms:created xsi:type="dcterms:W3CDTF">2026-10-29T16:06:42Z</dcterms:created>
  <dcterms:modified xsi:type="dcterms:W3CDTF">2026-10-29T16:06:42Z</dcterms:modified>
</cp:coreProperties>
</file>
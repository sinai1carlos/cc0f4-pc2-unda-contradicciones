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</c:v>
                </c:pt>
              </c:strCache>
            </c:strRef>
          </c:tx>
          <c:spPr>
            <a:solidFill>
              <a:srgbClr val="B8C2E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27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(100)</c:v>
                  </c:pt>
                  <c:pt idx="1">
                    <c:v>baseline (180)</c:v>
                  </c:pt>
                  <c:pt idx="2">
                    <c:v>large (320)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Recall@3</c:v>
                </c:pt>
              </c:strCache>
            </c:strRef>
          </c:tx>
          <c:spPr>
            <a:solidFill>
              <a:srgbClr val="5A6D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27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(100)</c:v>
                  </c:pt>
                  <c:pt idx="1">
                    <c:v>baseline (180)</c:v>
                  </c:pt>
                  <c:pt idx="2">
                    <c:v>large (320)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Recall@5</c:v>
                </c:pt>
              </c:strCache>
            </c:strRef>
          </c:tx>
          <c:spPr>
            <a:solidFill>
              <a:srgbClr val="1F2A5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27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(100)</c:v>
                  </c:pt>
                  <c:pt idx="1">
                    <c:v>baseline (180)</c:v>
                  </c:pt>
                  <c:pt idx="2">
                    <c:v>large (320)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5B627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solidFill>
          <a:srgbClr val="F1F3F9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B627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(15 s). En la PC1 clasifiqué pares de normas ya emparejados con Qwen. Hoy muestro la pieza anterior: cómo encontrar automáticamente las normas que regulan el mismo supuesto, que son las candidatas a contradicción.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Las 18 normas de los 9 pares de la PC1 están copiadas literalmente dentro de 10 documentos sintéticos, cada lado del par en un documento distinto. Cada artículo es un passage con su passage_id, como en los cuadernos del curso. Cada necesidad tiene como relevantes la Norma A y la Norma B de su caso. Por eso Recall@1 no puede pasar de 0.5: ningún fragmento contiene ambas. Hay distractores a propósito: por ejemplo, los descargos también tienen 'cinco días hábiles siguientes a la notificación'.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 s. Mismo Qwen de la PC1 con greedy para que Q1 sea reproducible. Distingo documento (D05), passage (un artículo, D05-A06), fragmento (grupo de passages, D05-C002), índice (los vectores en FAISS) y recuperador (encoder de consultas + índice + política top-k). Si normalizo, el producto interno es el coseno; el notebook lo verifica numéricamente comparando el score de FAISS con el coseno calculado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Lo importante es el control: en cada experimento cambia una sola cosa. En el 1 solo cambia el texto que entra al encoder; en el 2 solo target_words, y overlap_passages queda en 1. Uso build_chunks del curso: agrupa artículos completos, nunca los parte. Los qrels están sobre passage_id, no sobre chunk_id, así que son los mismos en los tres tamaños.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 s. Izquierda: los tres tamaños dan Recall@3 = 1.0 y Recall@1 = 0.5, que es el techo; el tamaño no cambió nada en este corpus. Derecha: Q0 es perfecto. Q1 estricto cae a 0.25, pero 4 de esos fallos son JSON inválidos por la tilde de prohibición_permiso, nunca llegaron a buscar; con respaldo queda en 0.92. Abajo, el único error real: con 'apela' los scores quedan casi planos (0.811 a 0.827) y la Norma A cae al 4.º puesto. Admitir el efecto techo antes de que lo pregunten.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Leer la conclusión empezando por 'bajo este corpus'. Recalcar que 'no cambia' es un resultado válido según el enunciado, pero que no autoriza a decir que el tamaño no importa. Siguiente paso: pasar el top-k como pares al clasificador NLI de la PC1.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58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58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D0EA"/>
                </a:solidFill>
              </a:rPr>
              <a:t>CC0F4 · SEGUNDA PRÁCTICA CALIFICADA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densa de normas candidatas a contradicción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2F2"/>
                </a:solidFill>
              </a:rPr>
              <a:t>Carlos Sinai Unda Miguel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2F2"/>
                </a:solidFill>
              </a:rPr>
              <a:t>Continuación de la PC1: antes de clasificar un par de normas con NLI, hay que encontrar la Norma B. Consulta estructurada con un LLM, embeddings E5 y FAISS, evaluados con Recall@k.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43800" y="822960"/>
            <a:ext cx="4069080" cy="5212080"/>
          </a:xfrm>
          <a:prstGeom prst="roundRect">
            <a:avLst>
              <a:gd name="adj" fmla="val 1798"/>
            </a:avLst>
          </a:prstGeom>
          <a:solidFill>
            <a:srgbClr val="17204A"/>
          </a:solidFill>
          <a:ln w="12700">
            <a:solidFill>
              <a:srgbClr val="172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Flujo mínimo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1691640"/>
            <a:ext cx="384048" cy="384048"/>
          </a:xfrm>
          <a:prstGeom prst="ellipse">
            <a:avLst/>
          </a:prstGeom>
          <a:solidFill>
            <a:srgbClr val="C9D0EA"/>
          </a:solidFill>
          <a:ln w="12700">
            <a:solidFill>
              <a:srgbClr val="C9D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5C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1691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Necesidad de información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55864" y="2112264"/>
            <a:ext cx="0" cy="384048"/>
          </a:xfrm>
          <a:prstGeom prst="line">
            <a:avLst/>
          </a:prstGeom>
          <a:noFill/>
          <a:ln w="12700">
            <a:solidFill>
              <a:srgbClr val="6E7AB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863840" y="2532888"/>
            <a:ext cx="384048" cy="384048"/>
          </a:xfrm>
          <a:prstGeom prst="ellipse">
            <a:avLst/>
          </a:prstGeom>
          <a:solidFill>
            <a:srgbClr val="C9D0EA"/>
          </a:solidFill>
          <a:ln w="12700">
            <a:solidFill>
              <a:srgbClr val="C9D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5C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532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Qwen2.5-0.5B → JSON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55864" y="2953512"/>
            <a:ext cx="0" cy="384048"/>
          </a:xfrm>
          <a:prstGeom prst="line">
            <a:avLst/>
          </a:prstGeom>
          <a:noFill/>
          <a:ln w="12700">
            <a:solidFill>
              <a:srgbClr val="6E7AB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863840" y="3374136"/>
            <a:ext cx="384048" cy="384048"/>
          </a:xfrm>
          <a:prstGeom prst="ellipse">
            <a:avLst/>
          </a:prstGeom>
          <a:solidFill>
            <a:srgbClr val="C9D0EA"/>
          </a:solidFill>
          <a:ln w="12700">
            <a:solidFill>
              <a:srgbClr val="C9D0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5C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3741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JSON Schema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55864" y="3794760"/>
            <a:ext cx="0" cy="384048"/>
          </a:xfrm>
          <a:prstGeom prst="line">
            <a:avLst/>
          </a:prstGeom>
          <a:noFill/>
          <a:ln w="12700">
            <a:solidFill>
              <a:srgbClr val="6E7AB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863840" y="4215384"/>
            <a:ext cx="384048" cy="384048"/>
          </a:xfrm>
          <a:prstGeom prst="ellipse">
            <a:avLst/>
          </a:prstGeom>
          <a:solidFill>
            <a:srgbClr val="C9D0EA"/>
          </a:solidFill>
          <a:ln w="12700">
            <a:solidFill>
              <a:srgbClr val="C9D0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5C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215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query: + E5 → FAISS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55864" y="4636008"/>
            <a:ext cx="0" cy="384048"/>
          </a:xfrm>
          <a:prstGeom prst="line">
            <a:avLst/>
          </a:prstGeom>
          <a:noFill/>
          <a:ln w="12700">
            <a:solidFill>
              <a:srgbClr val="6E7AB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863840" y="5056632"/>
            <a:ext cx="384048" cy="384048"/>
          </a:xfrm>
          <a:prstGeom prst="ellipse">
            <a:avLst/>
          </a:prstGeom>
          <a:solidFill>
            <a:srgbClr val="C9D0EA"/>
          </a:solidFill>
          <a:ln w="12700">
            <a:solidFill>
              <a:srgbClr val="C9D0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5C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50566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top-k → Recall@k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3C7A"/>
                </a:solidFill>
              </a:rPr>
              <a:t>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del NLI hay que encontrar la Norma 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PC1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235"/>
                </a:solidFill>
              </a:rPr>
              <a:t>Recibía el par (Norma A, Norma B) ya emparejado y solo clasificaba su relación.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74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PC2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235"/>
                </a:solidFill>
              </a:rPr>
              <a:t>Dada una necesidad de información, recuperar los fragmentos que regulan el mismo supuesto: los dos lados de una posible contradicción. Aún sin RAG ni NLI.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70855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4922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Ejemplo N3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40280"/>
            <a:ext cx="4922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E2235"/>
                </a:solidFill>
              </a:rPr>
              <a:t>“Me notificaron una resolución y quiero apelarla, ¿cuántos días tengo para presentar la apelación?”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3017520"/>
            <a:ext cx="4922215" cy="804672"/>
          </a:xfrm>
          <a:prstGeom prst="roundRect">
            <a:avLst>
              <a:gd name="adj" fmla="val 9091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3090672"/>
            <a:ext cx="4556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C7A"/>
                </a:solidFill>
              </a:rPr>
              <a:t>Norma A · D05 art. 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346704"/>
            <a:ext cx="45564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235"/>
                </a:solidFill>
              </a:rPr>
              <a:t>El plazo para interponer recurso de apelación es de quince días hábiles.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3931920"/>
            <a:ext cx="4922215" cy="804672"/>
          </a:xfrm>
          <a:prstGeom prst="roundRect">
            <a:avLst>
              <a:gd name="adj" fmla="val 9091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005072"/>
            <a:ext cx="4556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C7A"/>
                </a:solidFill>
              </a:rPr>
              <a:t>Norma B · D06 art. 7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261104"/>
            <a:ext cx="45564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235"/>
                </a:solidFill>
              </a:rPr>
              <a:t>El recurso de apelación debe interponerse dentro de los cinco días hábiles siguientes a la notificación.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1208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6072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documentos sintéticos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90824" y="521208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3390824" y="576072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passages (artículos)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521208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576072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necesidades (casos 1-6 de la PC1)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075191" y="521208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075191" y="576072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evidencias, 2 por consulta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58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3C7A"/>
                </a:solidFill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estructurada → embeddings → FAISS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216152" cy="777240"/>
          </a:xfrm>
          <a:prstGeom prst="roundRect">
            <a:avLst>
              <a:gd name="adj" fmla="val 7059"/>
            </a:avLst>
          </a:prstGeom>
          <a:solidFill>
            <a:srgbClr val="F1F3F9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216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235"/>
                </a:solidFill>
              </a:rPr>
              <a:t>Necesidad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235"/>
                </a:solidFill>
              </a:rPr>
              <a:t>(Q0)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2171700"/>
            <a:ext cx="118872" cy="0"/>
          </a:xfrm>
          <a:prstGeom prst="line">
            <a:avLst/>
          </a:prstGeom>
          <a:noFill/>
          <a:ln w="12700">
            <a:solidFill>
              <a:srgbClr val="5B627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20240" y="1783080"/>
            <a:ext cx="1216152" cy="777240"/>
          </a:xfrm>
          <a:prstGeom prst="roundRect">
            <a:avLst>
              <a:gd name="adj" fmla="val 7059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1783080"/>
            <a:ext cx="1216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Qwen2.5-0.5B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greedy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2171700"/>
            <a:ext cx="118872" cy="0"/>
          </a:xfrm>
          <a:prstGeom prst="line">
            <a:avLst/>
          </a:prstGeom>
          <a:noFill/>
          <a:ln w="12700">
            <a:solidFill>
              <a:srgbClr val="5B627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1783080"/>
            <a:ext cx="1216152" cy="777240"/>
          </a:xfrm>
          <a:prstGeom prst="roundRect">
            <a:avLst>
              <a:gd name="adj" fmla="val 7059"/>
            </a:avLst>
          </a:prstGeom>
          <a:solidFill>
            <a:srgbClr val="F1F3F9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783080"/>
            <a:ext cx="1216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235"/>
                </a:solidFill>
              </a:rPr>
              <a:t>JSON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171700"/>
            <a:ext cx="118872" cy="0"/>
          </a:xfrm>
          <a:prstGeom prst="line">
            <a:avLst/>
          </a:prstGeom>
          <a:noFill/>
          <a:ln w="12700">
            <a:solidFill>
              <a:srgbClr val="5B627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1783080"/>
            <a:ext cx="1216152" cy="777240"/>
          </a:xfrm>
          <a:prstGeom prst="roundRect">
            <a:avLst>
              <a:gd name="adj" fmla="val 7059"/>
            </a:avLst>
          </a:prstGeom>
          <a:solidFill>
            <a:srgbClr val="F1F3F9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783080"/>
            <a:ext cx="1216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235"/>
                </a:solidFill>
              </a:rPr>
              <a:t>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235"/>
                </a:solidFill>
              </a:rPr>
              <a:t>Schema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2171700"/>
            <a:ext cx="118872" cy="0"/>
          </a:xfrm>
          <a:prstGeom prst="line">
            <a:avLst/>
          </a:prstGeom>
          <a:noFill/>
          <a:ln w="12700">
            <a:solidFill>
              <a:srgbClr val="5B627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1783080"/>
            <a:ext cx="1216152" cy="777240"/>
          </a:xfrm>
          <a:prstGeom prst="roundRect">
            <a:avLst>
              <a:gd name="adj" fmla="val 7059"/>
            </a:avLst>
          </a:prstGeom>
          <a:solidFill>
            <a:srgbClr val="F1F3F9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783080"/>
            <a:ext cx="1216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235"/>
                </a:solidFill>
              </a:rPr>
              <a:t>query: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235"/>
                </a:solidFill>
              </a:rPr>
              <a:t>E5-small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2171700"/>
            <a:ext cx="118872" cy="0"/>
          </a:xfrm>
          <a:prstGeom prst="line">
            <a:avLst/>
          </a:prstGeom>
          <a:noFill/>
          <a:ln w="12700">
            <a:solidFill>
              <a:srgbClr val="5B627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1783080"/>
            <a:ext cx="1216152" cy="777240"/>
          </a:xfrm>
          <a:prstGeom prst="roundRect">
            <a:avLst>
              <a:gd name="adj" fmla="val 7059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783080"/>
            <a:ext cx="1216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FAISS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IndexFlatIP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41080" y="2171700"/>
            <a:ext cx="118872" cy="0"/>
          </a:xfrm>
          <a:prstGeom prst="line">
            <a:avLst/>
          </a:prstGeom>
          <a:noFill/>
          <a:ln w="12700">
            <a:solidFill>
              <a:srgbClr val="5B62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78240" y="1783080"/>
            <a:ext cx="1216152" cy="777240"/>
          </a:xfrm>
          <a:prstGeom prst="roundRect">
            <a:avLst>
              <a:gd name="adj" fmla="val 7059"/>
            </a:avLst>
          </a:prstGeom>
          <a:solidFill>
            <a:srgbClr val="F1F3F9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78240" y="1783080"/>
            <a:ext cx="1216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235"/>
                </a:solidFill>
              </a:rPr>
              <a:t>top-k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12680" y="2171700"/>
            <a:ext cx="118872" cy="0"/>
          </a:xfrm>
          <a:prstGeom prst="line">
            <a:avLst/>
          </a:prstGeom>
          <a:noFill/>
          <a:ln w="12700">
            <a:solidFill>
              <a:srgbClr val="5B627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49840" y="1783080"/>
            <a:ext cx="1216152" cy="777240"/>
          </a:xfrm>
          <a:prstGeom prst="roundRect">
            <a:avLst>
              <a:gd name="adj" fmla="val 7059"/>
            </a:avLst>
          </a:prstGeom>
          <a:solidFill>
            <a:srgbClr val="F1F3F9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49840" y="1783080"/>
            <a:ext cx="1216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235"/>
                </a:solidFill>
              </a:rPr>
              <a:t>Recall@k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2697480"/>
            <a:ext cx="5330952" cy="0"/>
          </a:xfrm>
          <a:prstGeom prst="line">
            <a:avLst/>
          </a:prstGeom>
          <a:noFill/>
          <a:ln w="19050">
            <a:solidFill>
              <a:srgbClr val="5A6D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27432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DB8"/>
                </a:solidFill>
              </a:rPr>
              <a:t>Semana 3 · generación estructurada y validación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697480"/>
            <a:ext cx="5330952" cy="0"/>
          </a:xfrm>
          <a:prstGeom prst="line">
            <a:avLst/>
          </a:prstGeom>
          <a:noFill/>
          <a:ln w="19050">
            <a:solidFill>
              <a:srgbClr val="5A6D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35040" y="27432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DB8"/>
                </a:solidFill>
              </a:rPr>
              <a:t>Semana 4 · embeddings y recuperación densa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291840"/>
            <a:ext cx="3515258" cy="2834640"/>
          </a:xfrm>
          <a:prstGeom prst="roundRect">
            <a:avLst>
              <a:gd name="adj" fmla="val 2581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347472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Salida esperada por el schema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388620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{"query": "plazo para interponer recurso de apelación",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"intent": "plazo",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"abstain": false}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498348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275"/>
                </a:solidFill>
              </a:rPr>
              <a:t>intent: plazo · prohibicion_permiso · vigencia · obligacion · derecho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275"/>
                </a:solidFill>
              </a:rPr>
              <a:t>additionalProperties: false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38218" y="3291840"/>
            <a:ext cx="3515258" cy="2834640"/>
          </a:xfrm>
          <a:prstGeom prst="roundRect">
            <a:avLst>
              <a:gd name="adj" fmla="val 2581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66818" y="347472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Tres niveles de validez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66818" y="3931920"/>
            <a:ext cx="329184" cy="329184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66818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024018" y="3886200"/>
            <a:ext cx="260085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</a:rPr>
              <a:t>Parseable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se puede extraer un objeto JSON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66818" y="4645152"/>
            <a:ext cx="329184" cy="329184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66818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024018" y="4599432"/>
            <a:ext cx="260085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</a:rPr>
              <a:t>Schema-valid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cumple tipos, enum y campos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66818" y="5358384"/>
            <a:ext cx="329184" cy="329184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66818" y="5358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024018" y="5312664"/>
            <a:ext cx="260085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</a:rPr>
              <a:t>Adecuada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intent correcto; que la query conserve la necesidad lo mide Recall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127797" y="3291840"/>
            <a:ext cx="3515258" cy="2834640"/>
          </a:xfrm>
          <a:prstGeom prst="roundRect">
            <a:avLst>
              <a:gd name="adj" fmla="val 2581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56397" y="347472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Similitud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8356397" y="38862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cos(q, p) = q·p / (‖q‖‖p‖)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‖q‖ = ‖p‖ = 1  ⇒  cos = q·p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356397" y="475488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235"/>
                </a:solidFill>
              </a:rPr>
              <a:t>E5 con prefijos query: y passage: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235"/>
                </a:solidFill>
              </a:rPr>
              <a:t>Vectores L2-normalizados, 384 dim., ≤ 512 tokens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235"/>
                </a:solidFill>
              </a:rPr>
              <a:t>IndexFlatIP: búsqueda exacta contra todos los fragmentos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58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3C7A"/>
                </a:solidFill>
              </a:rPr>
              <a:t>EXPERIMENTOS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variable por experimento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0048" cy="4434840"/>
          </a:xfrm>
          <a:prstGeom prst="roundRect">
            <a:avLst>
              <a:gd name="adj" fmla="val 1649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5C"/>
                </a:solidFill>
              </a:rPr>
              <a:t>Experimento 1 · Consulta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6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275"/>
                </a:solidFill>
              </a:rPr>
              <a:t>basado en prompts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C7A"/>
                </a:solidFill>
              </a:rPr>
              <a:t>Cambia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651760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</a:rPr>
              <a:t>texto enviado al encoder: Q0 original vs Q1 del LLM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186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C7A"/>
                </a:solidFill>
              </a:rPr>
              <a:t>Fijo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3218688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</a:rPr>
              <a:t>corpus, target_words 180, overlap_passages 1, E5, IndexFlatIP, 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856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C7A"/>
                </a:solidFill>
              </a:rPr>
              <a:t>Mide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3785616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</a:rPr>
              <a:t>schema_valid_rate, intent_accuracy, Recall@1/3/5, rango de A y 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35254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C7A"/>
                </a:solidFill>
              </a:rPr>
              <a:t>Si Q1 falla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4352544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</a:rPr>
              <a:t>estricta: Recall = 0 · con respaldo: se usa Q0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33008" y="1691640"/>
            <a:ext cx="5410048" cy="4434840"/>
          </a:xfrm>
          <a:prstGeom prst="roundRect">
            <a:avLst>
              <a:gd name="adj" fmla="val 1649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07328" y="1892808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5C"/>
                </a:solidFill>
              </a:rPr>
              <a:t>Experimento 2 · Tamaño de fragmento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2240280"/>
            <a:ext cx="486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275"/>
                </a:solidFill>
              </a:rPr>
              <a:t>no basado en prompts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26517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C7A"/>
                </a:solidFill>
              </a:rPr>
              <a:t>Cambia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87488" y="2651760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</a:rPr>
              <a:t>target_words = 100 / 180 / 320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07328" y="32186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C7A"/>
                </a:solidFill>
              </a:rPr>
              <a:t>Fijo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87488" y="3218688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</a:rPr>
              <a:t>corpus, Q0, qrels, overlap_passages 1, E5, L2, IP, IndexFlatIP, 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07328" y="37856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C7A"/>
                </a:solidFill>
              </a:rPr>
              <a:t>Mide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87488" y="3785616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</a:rPr>
              <a:t>Recall@1/3/5; principal: mean Recall@3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07328" y="435254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C7A"/>
                </a:solidFill>
              </a:rPr>
              <a:t>Qrels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87488" y="4352544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</a:rPr>
              <a:t>sobre passage_id: un artículo nunca se parte, la relevancia no cambia entre tamaños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07328" y="4983480"/>
          <a:ext cx="4861408" cy="914400"/>
        </p:xfrm>
        <a:graphic>
          <a:graphicData uri="http://schemas.openxmlformats.org/drawingml/2006/table">
            <a:tbl>
              <a:tblPr/>
              <a:tblGrid>
                <a:gridCol w="1361194"/>
                <a:gridCol w="1069510"/>
                <a:gridCol w="1215352"/>
                <a:gridCol w="1215352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Condición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target_words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Fragmentos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Por documento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small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49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4.9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baseline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180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2.0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large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320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1.1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822960" y="512064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275"/>
                </a:solidFill>
              </a:rPr>
              <a:t>Exp. 2 usa Q0 para que la variabilidad del LLM no se mezcle con el efecto del chunking.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58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3C7A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Q0 recupera ambas normas; Q1 y el tamaño no ayudan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760720" cy="3017520"/>
          </a:xfrm>
          <a:prstGeom prst="roundRect">
            <a:avLst>
              <a:gd name="adj" fmla="val 2424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Exp. 2 · mean Recall@k por target_words (Q0)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148840"/>
          <a:ext cx="54864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1691640"/>
            <a:ext cx="5059375" cy="3017520"/>
          </a:xfrm>
          <a:prstGeom prst="roundRect">
            <a:avLst>
              <a:gd name="adj" fmla="val 2424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1810512"/>
            <a:ext cx="4602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Exp. 1 · Q0 vs Q1 (target_words 180)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2240280"/>
          <a:ext cx="4602175" cy="914400"/>
        </p:xfrm>
        <a:graphic>
          <a:graphicData uri="http://schemas.openxmlformats.org/drawingml/2006/table">
            <a:tbl>
              <a:tblPr/>
              <a:tblGrid>
                <a:gridCol w="1702805"/>
                <a:gridCol w="782370"/>
                <a:gridCol w="1058500"/>
                <a:gridCol w="10585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Q1 estricta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Q1 respaldo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3C7A"/>
                          </a:solidFill>
                        </a:rPr>
                        <a:t>schema_valid_rate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0.33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3C7A"/>
                          </a:solidFill>
                        </a:rPr>
                        <a:t>intent_accuracy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3C7A"/>
                          </a:solidFill>
                        </a:rPr>
                        <a:t>mean Recall@1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0.50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0.17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0.50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3C7A"/>
                          </a:solidFill>
                        </a:rPr>
                        <a:t>mean Recall@3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0.25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0.92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3C7A"/>
                          </a:solidFill>
                        </a:rPr>
                        <a:t>mean Recall@5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0.33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892040"/>
            <a:ext cx="1109441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5010912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C"/>
                </a:solidFill>
              </a:rPr>
              <a:t>Error de recuperación · N3 con Q1 = “apela” (target_words 180)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</a:rPr>
              <a:t>La Norma A (D05-A06, 15 días hábiles) cae al puesto 4; entran salud (0.817) y transparencia (0.813). Los cinco primeros scores caben entre 0.811 y 0.827: con una palabra el encoder casi no distingue. No es granularidad: con Q0 y el mismo tamaño, las normas quedan 1.ª y 2.ª.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58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3C7A"/>
                </a:solidFill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Limitación y conclusión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1649"/>
            </a:avLst>
          </a:prstGeom>
          <a:solidFill>
            <a:srgbClr val="F1F3F9"/>
          </a:solidFill>
          <a:ln w="12700">
            <a:solidFill>
              <a:srgbClr val="F1F3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C"/>
                </a:solidFill>
              </a:rPr>
              <a:t>Limitaciones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235"/>
                </a:solidFill>
              </a:rPr>
              <a:t>Efecto techo: Q0 ya llega a Recall@3 = 1.0; ningún experimento podía mostrar una mejora.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235"/>
                </a:solidFill>
              </a:rPr>
              <a:t>6 consultas y qrels del propio autor: una consulta mueve 16.7 puntos de Recall promedio.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235"/>
                </a:solidFill>
              </a:rPr>
              <a:t>4 de 6 JSON fallaron por una tilde (prohibición_permiso); normalizar tildes queda para otra iteración.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235"/>
                </a:solidFill>
              </a:rPr>
              <a:t>Similitud alta no distingue contradicción de concordancia: decide el NLI, no el recuperador.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1691640"/>
            <a:ext cx="4785055" cy="4434840"/>
          </a:xfrm>
          <a:prstGeom prst="roundRect">
            <a:avLst>
              <a:gd name="adj" fmla="val 1649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874520"/>
            <a:ext cx="4236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Conclusión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331720"/>
            <a:ext cx="42364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Con este corpus y E5-small, la pregunta original recupera las dos normas en el top-3 en las 6 consultas y con los tres tamaños. Qwen 0.5B fue el punto débil: 2 de 6 JSON válidos, 0 intents correctos, y en N3 bajó Recall@3 de 1.0 a 0.5. Que el tamaño no cambie nada no prueba que no importe: el benchmark es fácil y la métrica está saturada.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5166360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A"/>
                </a:solidFill>
              </a:rPr>
              <a:t>Siguiente paso: pasar el top-k como pares (Norma A, fragmento) al clasificador NLI de la PC1.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5895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C2 Unda">
  <a:themeElements>
    <a:clrScheme name="PC2 Unda">
      <a:dk1>
        <a:srgbClr val="1E2235"/>
      </a:dk1>
      <a:lt1>
        <a:srgbClr val="FFFFFF"/>
      </a:lt1>
      <a:dk2>
        <a:srgbClr val="1F2A5C"/>
      </a:dk2>
      <a:lt2>
        <a:srgbClr val="F1F3F9"/>
      </a:lt2>
      <a:accent1>
        <a:srgbClr val="1F2A5C"/>
      </a:accent1>
      <a:accent2>
        <a:srgbClr val="5A6DB8"/>
      </a:accent2>
      <a:accent3>
        <a:srgbClr val="B8C2E6"/>
      </a:accent3>
      <a:accent4>
        <a:srgbClr val="3E7CB1"/>
      </a:accent4>
      <a:accent5>
        <a:srgbClr val="8A90A2"/>
      </a:accent5>
      <a:accent6>
        <a:srgbClr val="C8553D"/>
      </a:accent6>
      <a:hlink>
        <a:srgbClr val="5A6DB8"/>
      </a:hlink>
      <a:folHlink>
        <a:srgbClr val="2E3C7A"/>
      </a:folHlink>
    </a:clrScheme>
    <a:fontScheme name="PC2 Un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CC0F4 PC2 - Recuperación densa de normas candidatas a contradicción</dc:title>
  <dc:subject>PptxGenJS Presentation</dc:subject>
  <dc:creator>Carlos Sinai Unda Miguel</dc:creator>
  <cp:lastModifiedBy>Carlos Sinai Unda Miguel</cp:lastModifiedBy>
  <cp:revision>1</cp:revision>
  <dcterms:created xsi:type="dcterms:W3CDTF">2026-10-15T19:04:24Z</dcterms:created>
  <dcterms:modified xsi:type="dcterms:W3CDTF">2026-10-15T19:04:24Z</dcterms:modified>
</cp:coreProperties>
</file>